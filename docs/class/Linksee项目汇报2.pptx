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58" r:id="rId4"/>
    <p:sldId id="259" r:id="rId5"/>
    <p:sldId id="260" r:id="rId6"/>
    <p:sldId id="263" r:id="rId7"/>
    <p:sldId id="262" r:id="rId8"/>
    <p:sldId id="261" r:id="rId9"/>
    <p:sldId id="264" r:id="rId10"/>
    <p:sldId id="265" r:id="rId11"/>
    <p:sldId id="279" r:id="rId12"/>
    <p:sldId id="280" r:id="rId13"/>
    <p:sldId id="281" r:id="rId14"/>
    <p:sldId id="266" r:id="rId15"/>
    <p:sldId id="267" r:id="rId16"/>
    <p:sldId id="268" r:id="rId17"/>
  </p:sldIdLst>
  <p:sldSz cx="12192000" cy="6858000"/>
  <p:notesSz cx="6858000" cy="9144000"/>
  <p:custDataLst>
    <p:tags r:id="rId1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92" userDrawn="1">
          <p15:clr>
            <a:srgbClr val="747775"/>
          </p15:clr>
        </p15:guide>
        <p15:guide id="2" pos="285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1" d="100"/>
          <a:sy n="91" d="100"/>
        </p:scale>
        <p:origin x="351" y="33"/>
      </p:cViewPr>
      <p:guideLst>
        <p:guide orient="horz" pos="1592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F68AF-A258-3202-3B10-87A2C0F52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4C9A32-7BE3-B904-4172-C206EB9C23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9F2F8-2848-729D-3C2D-5BB6D03267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8E19CE5-E3AD-BD6F-60A5-51EC89697C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1ACD7A0-6976-7EFC-A403-E3A90E2D7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SQL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注入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4C03A-7A1E-C4EC-DBA7-2AF1A7E166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FE68F-5D10-EB6E-8F5E-218744789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02134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6AEF2-C123-1D57-5309-19F6AC169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862981-444B-07D0-0FE1-E46036A7EF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16322-5D7E-03C7-2525-C1445BBEAE2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C26A613-BB0B-4178-E5B3-EE182F644E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285F283-A1D2-19F9-6991-54A330E50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E6C49-E6B4-51A9-510A-D32731CF99E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14A0C-3ECA-5608-BCA0-692F84283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90763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2BA20-AB8B-E3E3-8839-915F89F20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F99B04-3D45-0A97-CABE-D54AB0A0E4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88A8-3E97-0B4D-332F-81C8CDE074E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AC57710-3F0F-0DA9-3A0C-36264C958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09E5961-BF15-23BE-5FD1-DB1C62AFD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07086-AA92-4784-9497-E742FBAA66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C6AC7-B2A0-B302-7F45-6A345203A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34609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5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jpe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5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jpeg"/><Relationship Id="rId5" Type="http://schemas.openxmlformats.org/officeDocument/2006/relationships/image" Target="../media/image30.svg"/><Relationship Id="rId4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14.sv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4762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 dirty="0" err="1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Linksee</a:t>
            </a:r>
            <a:r>
              <a:rPr lang="en-US" sz="60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6000" b="1" i="0" u="none" strike="noStrike" dirty="0" err="1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项目汇报</a:t>
            </a:r>
            <a:r>
              <a:rPr lang="en-US" sz="60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6000" b="1" i="0" u="none" strike="noStrike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4699000"/>
            <a:ext cx="10160000" cy="1524000"/>
          </a:xfrm>
          <a:prstGeom prst="roundRect">
            <a:avLst>
              <a:gd name="adj" fmla="val 100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75569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5016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159000" y="4953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小组名称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[请填写您的小组名称]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6000" y="5016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588000" y="4953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[请填写汇报人姓名]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5016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890000" y="4953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Q1：项目前端的原型设计体系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635000"/>
          </a:xfrm>
          <a:prstGeom prst="roundRect">
            <a:avLst>
              <a:gd name="adj" fmla="val 16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397000"/>
            <a:ext cx="1028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核心考量：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是否为项目前端设计了纸质原型 / 线框图 / 高保真模型 / 可操作原型？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19609" b="19609"/>
          <a:stretch>
            <a:fillRect/>
          </a:stretch>
        </p:blipFill>
        <p:spPr>
          <a:xfrm>
            <a:off x="1016000" y="2540000"/>
            <a:ext cx="4699000" cy="1905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016000" y="4635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低保真原型（线框图）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20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使用白板和纸笔快速确定核心功能布局和信息架构，投入成本低，方便团队内部快速讨论与设计迭代，是打磨产品骨架的最佳选择。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286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t="11266" b="11266"/>
          <a:stretch>
            <a:fillRect/>
          </a:stretch>
        </p:blipFill>
        <p:spPr>
          <a:xfrm>
            <a:off x="6477000" y="2540000"/>
            <a:ext cx="4699000" cy="1905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477000" y="4635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高保真原型（可交互模型）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520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Figma 等专业工具制作高保真、可操作的原型，在编写代码前充分验证视觉风格、色彩系统和交互逻辑，能有效提前发现潜在问题，降低开发返工成本。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Q2：前端的MVVM组件架构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588000" cy="952500"/>
          </a:xfrm>
          <a:prstGeom prst="roundRect">
            <a:avLst>
              <a:gd name="adj" fmla="val 10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5494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提问：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你们前端项目采用了什么组件化架构模式？优势是什么？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解决方案：Vue 3 实现关注点分离 (Separation of Concerns)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1714500" cy="19050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365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33274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3937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sz="1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Pinia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管理全局共享数据，作为前端应用的唯一可信数据源，确保状态流转清晰可控。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692400" y="3175000"/>
            <a:ext cx="1714500" cy="19050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82900" y="3365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263900" y="33274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View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819400" y="3937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Element Plus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构建高保真UI，专注于数据的渲染展示与用户的交互反馈。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3175000"/>
            <a:ext cx="1714500" cy="19050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6000" y="3365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207000" y="33274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VM层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762500" y="3937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</a:t>
            </a:r>
            <a:r>
              <a:rPr lang="en-US" sz="1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setup() 语法糖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封装核心业务逻辑，连接数据与视图，实现高效的双向绑定。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334000"/>
            <a:ext cx="5588000" cy="1016000"/>
          </a:xfrm>
          <a:prstGeom prst="roundRect">
            <a:avLst>
              <a:gd name="adj" fmla="val 125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5626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651000" y="5461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架构核心优势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代码解耦 · 逻辑复用 · 易于维护与单元测试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731000" y="1905000"/>
            <a:ext cx="4699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rcRect l="13802" r="13802"/>
          <a:stretch>
            <a:fillRect/>
          </a:stretch>
        </p:blipFill>
        <p:spPr>
          <a:xfrm>
            <a:off x="6921500" y="2095500"/>
            <a:ext cx="4318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6731000" y="520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“数据驱动视图，逻辑与UI解耦”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 3 响应式系统的核心机制，实现视图与数据的自动同步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Q3：用户体验评估与测试计划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问题：你们评估 / 测试项目用户体验的计划是什么？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24774" b="24774"/>
          <a:stretch>
            <a:fillRect/>
          </a:stretch>
        </p:blipFill>
        <p:spPr>
          <a:xfrm>
            <a:off x="1016000" y="2540000"/>
            <a:ext cx="4699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016000" y="4572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角色扮演测试 (Role-playing Testing)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邀请未参与开发的同学分别扮演“老师”、“助教”和“学生”三种角色，在真实环境中执行核心业务场景任务。通过第一视角观察和记录，发现潜在的逻辑断点、交互歧义及操作障碍，从真实使用者的角度去发现问题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2286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667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366000" y="2667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关键指标量化 (Quantitative Metrics)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38100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建立客观的数据评估模型，在测试中重点记录并分析任务完成率、平均操作耗时、以及关键路径点击次数等核心指标，以量化方式评估用户体验表现。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1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例如，经测试验证：优化后的系统让老师在线作业批改的整体效率提升约</a:t>
            </a: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40%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，显著降低了操作负担。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33045" y="12890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UML组件图</a:t>
            </a:r>
            <a:endParaRPr lang="en-US" sz="1100" dirty="0"/>
          </a:p>
        </p:txBody>
      </p:sp>
      <p:pic>
        <p:nvPicPr>
          <p:cNvPr id="16" name="图片 15" descr="屏幕截图 2026-04-29 1019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" y="852170"/>
            <a:ext cx="9409990" cy="4680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3975100" y="5833745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 </a:t>
            </a:r>
            <a:r>
              <a:rPr lang="zh-CN" alt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组件图结构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示意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11125" y="19621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项目部署图</a:t>
            </a:r>
            <a:endParaRPr lang="en-US" sz="11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85" y="932815"/>
            <a:ext cx="8352155" cy="518541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921510" y="6219825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 </a:t>
            </a:r>
            <a:r>
              <a:rPr lang="zh-CN" alt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项目部署图结构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示意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32080" y="9969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UML包图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3975100" y="5833745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 包图结构示意</a:t>
            </a:r>
            <a:endParaRPr lang="en-US" sz="110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" y="869950"/>
            <a:ext cx="11960860" cy="46520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虚拟化技术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：开发环境与基础</a:t>
            </a: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5418" y="2848521"/>
            <a:ext cx="1571297" cy="1571297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316621" y="4579224"/>
            <a:ext cx="2808890" cy="42829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容器化</a:t>
            </a:r>
            <a:endParaRPr lang="en-US" sz="1100" dirty="0"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458D2D60-944A-44BF-E0EE-DDCFBF2E3D69}"/>
              </a:ext>
            </a:extLst>
          </p:cNvPr>
          <p:cNvSpPr/>
          <p:nvPr/>
        </p:nvSpPr>
        <p:spPr>
          <a:xfrm>
            <a:off x="3210909" y="1730702"/>
            <a:ext cx="8276897" cy="4696373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53D546AA-8D4B-52AC-93B7-E0868D352F2C}"/>
              </a:ext>
            </a:extLst>
          </p:cNvPr>
          <p:cNvSpPr/>
          <p:nvPr/>
        </p:nvSpPr>
        <p:spPr>
          <a:xfrm>
            <a:off x="3464910" y="1921203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当前现状</a:t>
            </a:r>
            <a:endParaRPr lang="en-US" sz="1100" dirty="0"/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4363A338-C37B-0E21-281E-7C0A73AF2848}"/>
              </a:ext>
            </a:extLst>
          </p:cNvPr>
          <p:cNvSpPr/>
          <p:nvPr/>
        </p:nvSpPr>
        <p:spPr>
          <a:xfrm>
            <a:off x="3922109" y="2492703"/>
            <a:ext cx="5936593" cy="9901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采用容器虚拟化作为开发基座，将数据库、缓存、对象存储统一运行在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Docker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容器中，而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API/Web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应用先以本地进程运行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考虑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开发调试效率，保证了后端依赖的环境一致性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zh-CN" alt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关于库等相关版本的管理目前考虑使用文件约定说明的方式。</a:t>
            </a:r>
            <a:endParaRPr lang="en-US" sz="1100" dirty="0"/>
          </a:p>
        </p:txBody>
      </p:sp>
      <p:sp>
        <p:nvSpPr>
          <p:cNvPr id="20" name="AutoShape 7">
            <a:extLst>
              <a:ext uri="{FF2B5EF4-FFF2-40B4-BE49-F238E27FC236}">
                <a16:creationId xmlns:a16="http://schemas.microsoft.com/office/drawing/2014/main" id="{36E8163C-4592-8A69-0D5B-F3EC1B3BDC56}"/>
              </a:ext>
            </a:extLst>
          </p:cNvPr>
          <p:cNvSpPr/>
          <p:nvPr/>
        </p:nvSpPr>
        <p:spPr>
          <a:xfrm>
            <a:off x="3922107" y="3585120"/>
            <a:ext cx="6812457" cy="1397001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D1543E14-A7CD-053A-1FD4-E4D9D89B82C0}"/>
              </a:ext>
            </a:extLst>
          </p:cNvPr>
          <p:cNvSpPr/>
          <p:nvPr/>
        </p:nvSpPr>
        <p:spPr>
          <a:xfrm>
            <a:off x="4049108" y="3712121"/>
            <a:ext cx="4698999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Developer Machine</a:t>
            </a:r>
            <a:endParaRPr lang="en-US" sz="1100" dirty="0"/>
          </a:p>
          <a:p>
            <a:pPr marL="1270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├─ Local Process: API (localhost:3001) | Web (localhost:5173)</a:t>
            </a:r>
          </a:p>
          <a:p>
            <a:pPr marL="1270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└─ Docker Compose (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基础设施层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marL="254000" indent="0" algn="l">
              <a:lnSpc>
                <a:spcPct val="108333"/>
              </a:lnSpc>
            </a:pP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MySQL 8 · Redis 7 · 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MinIO</a:t>
            </a:r>
            <a:endParaRPr lang="en-US" sz="1200" b="0" i="0" u="none" strike="noStrike" dirty="0">
              <a:solidFill>
                <a:srgbClr val="6B728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20">
            <a:extLst>
              <a:ext uri="{FF2B5EF4-FFF2-40B4-BE49-F238E27FC236}">
                <a16:creationId xmlns:a16="http://schemas.microsoft.com/office/drawing/2014/main" id="{27370770-37DD-A16A-4824-15B234436CA8}"/>
              </a:ext>
            </a:extLst>
          </p:cNvPr>
          <p:cNvSpPr/>
          <p:nvPr/>
        </p:nvSpPr>
        <p:spPr>
          <a:xfrm>
            <a:off x="3922108" y="5207876"/>
            <a:ext cx="6812457" cy="956441"/>
          </a:xfrm>
          <a:prstGeom prst="roundRect">
            <a:avLst>
              <a:gd name="adj" fmla="val 12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0" name="AutoShape 6">
            <a:extLst>
              <a:ext uri="{FF2B5EF4-FFF2-40B4-BE49-F238E27FC236}">
                <a16:creationId xmlns:a16="http://schemas.microsoft.com/office/drawing/2014/main" id="{4E767323-E702-2964-4149-F1DB5D0245BE}"/>
              </a:ext>
            </a:extLst>
          </p:cNvPr>
          <p:cNvSpPr/>
          <p:nvPr/>
        </p:nvSpPr>
        <p:spPr>
          <a:xfrm>
            <a:off x="3943129" y="5204587"/>
            <a:ext cx="6812455" cy="73047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75000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zh-CN" altLang="en-US" sz="13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推进计划：</a:t>
            </a:r>
            <a:endParaRPr lang="en-US" altLang="zh-CN" sz="1300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75000"/>
              </a:lnSpc>
              <a:defRPr/>
            </a:pPr>
            <a:r>
              <a:rPr lang="en-US" altLang="zh-CN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</a:t>
            </a:r>
            <a:r>
              <a:rPr lang="en-US" altLang="zh-CN" sz="12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基础容器化</a:t>
            </a:r>
            <a:r>
              <a:rPr lang="en-US" altLang="zh-CN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altLang="zh-CN" sz="12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</a:t>
            </a:r>
            <a:r>
              <a:rPr lang="en-US" altLang="zh-CN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 → </a:t>
            </a:r>
            <a:r>
              <a:rPr lang="en-US" altLang="zh-CN" sz="12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</a:t>
            </a: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逐步</a:t>
            </a:r>
            <a:r>
              <a:rPr lang="en-US" altLang="zh-CN" sz="12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容器化</a:t>
            </a:r>
            <a:r>
              <a:rPr lang="en-US" altLang="zh-CN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altLang="zh-CN" sz="12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端到端单元</a:t>
            </a:r>
            <a:r>
              <a:rPr lang="en-US" altLang="zh-CN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 → </a:t>
            </a:r>
            <a:r>
              <a:rPr lang="en-US" altLang="zh-CN" sz="1200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接入</a:t>
            </a: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系统、验收测试</a:t>
            </a:r>
            <a:r>
              <a:rPr lang="en-US" altLang="zh-CN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发布等后续流程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>
            <a:extLst>
              <a:ext uri="{FF2B5EF4-FFF2-40B4-BE49-F238E27FC236}">
                <a16:creationId xmlns:a16="http://schemas.microsoft.com/office/drawing/2014/main" id="{03CEBC60-417B-25F8-BB76-5D1CADCEF5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F3B6AF8E-117E-7131-C11E-4396970D6ACC}"/>
              </a:ext>
            </a:extLst>
          </p:cNvPr>
          <p:cNvSpPr/>
          <p:nvPr/>
        </p:nvSpPr>
        <p:spPr>
          <a:xfrm>
            <a:off x="8145517" y="5183177"/>
            <a:ext cx="3284483" cy="45719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DD3A3A36-C2E2-6CA2-7ACD-B8E55A7FEAE4}"/>
              </a:ext>
            </a:extLst>
          </p:cNvPr>
          <p:cNvSpPr/>
          <p:nvPr/>
        </p:nvSpPr>
        <p:spPr>
          <a:xfrm>
            <a:off x="884621" y="2095500"/>
            <a:ext cx="417085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Noto Sans SC"/>
                <a:ea typeface="Noto Sans SC"/>
                <a:sym typeface="Noto Sans SC"/>
              </a:rPr>
              <a:t>非功能性考量</a:t>
            </a:r>
            <a:endParaRPr lang="en-US" sz="1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DC6642B2-533D-D3A8-C2FE-12D29EB3A1F0}"/>
              </a:ext>
            </a:extLst>
          </p:cNvPr>
          <p:cNvSpPr/>
          <p:nvPr/>
        </p:nvSpPr>
        <p:spPr>
          <a:xfrm>
            <a:off x="8145517" y="5080001"/>
            <a:ext cx="3410607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安全与风险 </a:t>
            </a:r>
            <a:r>
              <a:rPr lang="en-US" altLang="zh-CN" sz="2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zh-CN" altLang="en-US" sz="2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容量与性能</a:t>
            </a:r>
            <a:endParaRPr lang="en-US" sz="900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36AAC9C-65C3-AE8F-D535-E0EE0CFEDEB3}"/>
              </a:ext>
            </a:extLst>
          </p:cNvPr>
          <p:cNvSpPr/>
          <p:nvPr/>
        </p:nvSpPr>
        <p:spPr>
          <a:xfrm>
            <a:off x="425669" y="6236137"/>
            <a:ext cx="1639613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09023301 </a:t>
            </a:r>
            <a:r>
              <a:rPr lang="zh-CN" altLang="en-US" sz="1600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张凯轩</a:t>
            </a:r>
            <a:endParaRPr lang="en-US" sz="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F1302-03AF-85E6-26E9-F4809D88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>
            <a:extLst>
              <a:ext uri="{FF2B5EF4-FFF2-40B4-BE49-F238E27FC236}">
                <a16:creationId xmlns:a16="http://schemas.microsoft.com/office/drawing/2014/main" id="{DDD31C55-DD67-119F-D634-AE2D5841B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52817C5-09A1-AC4B-9301-A7F96061713B}"/>
              </a:ext>
            </a:extLst>
          </p:cNvPr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D0EB9C5-A5D9-B516-BEB2-5E0DC13ED9D8}"/>
              </a:ext>
            </a:extLst>
          </p:cNvPr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安全与风险</a:t>
            </a:r>
            <a:endParaRPr lang="en-US" sz="1100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C82B8782-0316-F33C-FF00-492E0B05D649}"/>
              </a:ext>
            </a:extLst>
          </p:cNvPr>
          <p:cNvSpPr/>
          <p:nvPr/>
        </p:nvSpPr>
        <p:spPr>
          <a:xfrm>
            <a:off x="1667641" y="1215696"/>
            <a:ext cx="3492938" cy="508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首先需要考虑的是账号密码安全</a:t>
            </a:r>
            <a:endParaRPr lang="en-US" sz="1100" dirty="0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ED2CB54F-A034-9C3C-70C5-114828D0BD7E}"/>
              </a:ext>
            </a:extLst>
          </p:cNvPr>
          <p:cNvSpPr/>
          <p:nvPr/>
        </p:nvSpPr>
        <p:spPr>
          <a:xfrm>
            <a:off x="762000" y="2003097"/>
            <a:ext cx="2540000" cy="4445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CA5A5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9F25F1C8-B977-BD25-9760-2F416EBED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2257097"/>
            <a:ext cx="355600" cy="355600"/>
          </a:xfrm>
          <a:prstGeom prst="rect">
            <a:avLst/>
          </a:prstGeom>
        </p:spPr>
      </p:pic>
      <p:sp>
        <p:nvSpPr>
          <p:cNvPr id="11" name="AutoShape 6">
            <a:extLst>
              <a:ext uri="{FF2B5EF4-FFF2-40B4-BE49-F238E27FC236}">
                <a16:creationId xmlns:a16="http://schemas.microsoft.com/office/drawing/2014/main" id="{65EDAE52-7062-B85F-643D-582B565A36C8}"/>
              </a:ext>
            </a:extLst>
          </p:cNvPr>
          <p:cNvSpPr/>
          <p:nvPr/>
        </p:nvSpPr>
        <p:spPr>
          <a:xfrm>
            <a:off x="1422400" y="2231697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风险</a:t>
            </a:r>
            <a:endParaRPr lang="en-US" sz="1100" dirty="0"/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35190A72-2E65-C97D-FE48-DB46DCB7E5A5}"/>
              </a:ext>
            </a:extLst>
          </p:cNvPr>
          <p:cNvSpPr/>
          <p:nvPr/>
        </p:nvSpPr>
        <p:spPr>
          <a:xfrm>
            <a:off x="1077311" y="2866697"/>
            <a:ext cx="1933903" cy="26823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600" b="1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cs typeface="Noto Sans SC"/>
                <a:sym typeface="Noto Sans SC"/>
              </a:rPr>
              <a:t>存储风险：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明文存储；</a:t>
            </a:r>
            <a:r>
              <a:rPr lang="en-US" altLang="zh-CN" sz="1500" dirty="0" err="1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弱哈希存储的密码</a:t>
            </a:r>
            <a:r>
              <a:rPr lang="en-US" altLang="zh-CN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，</a:t>
            </a:r>
            <a:r>
              <a:rPr lang="zh-CN" altLang="en-US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也易遭受暴力破解或者对照还原，譬如</a:t>
            </a:r>
            <a:r>
              <a:rPr lang="en-US" altLang="zh-CN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SHA-256</a:t>
            </a:r>
            <a:r>
              <a:rPr lang="zh-CN" altLang="en-US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加密方式等</a:t>
            </a:r>
            <a:endParaRPr lang="en-US" altLang="zh-CN" sz="1500" dirty="0">
              <a:solidFill>
                <a:srgbClr val="4B5563"/>
              </a:solidFill>
              <a:latin typeface="Noto Sans SC"/>
              <a:ea typeface="Noto Sans SC"/>
              <a:sym typeface="Noto Sans SC"/>
            </a:endParaRPr>
          </a:p>
          <a:p>
            <a:pPr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600" b="1" dirty="0" err="1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cs typeface="Noto Sans SC"/>
                <a:sym typeface="Noto Sans SC"/>
              </a:rPr>
              <a:t>暴力破解</a:t>
            </a:r>
            <a:r>
              <a:rPr lang="en-US" altLang="zh-CN" sz="1600" b="1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cs typeface="Noto Sans SC"/>
                <a:sym typeface="Noto Sans SC"/>
              </a:rPr>
              <a:t>：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500" dirty="0" err="1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登录接口若未限制次数，易遭受撞库攻击</a:t>
            </a:r>
            <a:r>
              <a:rPr lang="en-US" altLang="zh-CN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 </a:t>
            </a:r>
            <a:endParaRPr lang="en-US" sz="1500" dirty="0">
              <a:solidFill>
                <a:srgbClr val="4B5563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13" name="AutoShape 8">
            <a:extLst>
              <a:ext uri="{FF2B5EF4-FFF2-40B4-BE49-F238E27FC236}">
                <a16:creationId xmlns:a16="http://schemas.microsoft.com/office/drawing/2014/main" id="{707DD5A2-F0DF-CF97-4AC3-9291A57F12AC}"/>
              </a:ext>
            </a:extLst>
          </p:cNvPr>
          <p:cNvSpPr/>
          <p:nvPr/>
        </p:nvSpPr>
        <p:spPr>
          <a:xfrm>
            <a:off x="3556000" y="2003097"/>
            <a:ext cx="2540000" cy="4445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86EFAC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7D9B9F9B-8F92-9DB2-886A-72DA2406F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9200" y="2257097"/>
            <a:ext cx="355600" cy="355600"/>
          </a:xfrm>
          <a:prstGeom prst="rect">
            <a:avLst/>
          </a:prstGeom>
        </p:spPr>
      </p:pic>
      <p:sp>
        <p:nvSpPr>
          <p:cNvPr id="15" name="AutoShape 10">
            <a:extLst>
              <a:ext uri="{FF2B5EF4-FFF2-40B4-BE49-F238E27FC236}">
                <a16:creationId xmlns:a16="http://schemas.microsoft.com/office/drawing/2014/main" id="{5DE6C590-1176-9379-0292-10F9994CE462}"/>
              </a:ext>
            </a:extLst>
          </p:cNvPr>
          <p:cNvSpPr/>
          <p:nvPr/>
        </p:nvSpPr>
        <p:spPr>
          <a:xfrm>
            <a:off x="4216400" y="2231697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设计与实现</a:t>
            </a:r>
            <a:endParaRPr lang="en-US" sz="1100" dirty="0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DE22C4CA-988D-EBE6-59DC-EE229AADEF09}"/>
              </a:ext>
            </a:extLst>
          </p:cNvPr>
          <p:cNvSpPr/>
          <p:nvPr/>
        </p:nvSpPr>
        <p:spPr>
          <a:xfrm>
            <a:off x="3765331" y="2917497"/>
            <a:ext cx="2229069" cy="163435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600" b="1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强哈希存储：</a:t>
            </a:r>
          </a:p>
          <a:p>
            <a:pPr indent="0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参考</a:t>
            </a:r>
            <a:r>
              <a:rPr lang="en-US" altLang="zh-CN" sz="1500" b="1" dirty="0">
                <a:solidFill>
                  <a:srgbClr val="4B5563"/>
                </a:solidFill>
                <a:latin typeface="Noto Sans SC"/>
                <a:ea typeface="Noto Sans SC"/>
              </a:rPr>
              <a:t>OWASP</a:t>
            </a:r>
            <a:r>
              <a:rPr lang="zh-CN" altLang="en-US" dirty="0"/>
              <a:t>，</a:t>
            </a:r>
            <a:r>
              <a:rPr lang="en-US" sz="1500" dirty="0" err="1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选用</a:t>
            </a:r>
            <a:r>
              <a:rPr lang="zh-CN" altLang="en-US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公认较强的</a:t>
            </a:r>
            <a:r>
              <a:rPr lang="en-US" sz="1500" b="1" dirty="0">
                <a:solidFill>
                  <a:srgbClr val="00B050"/>
                </a:solidFill>
                <a:latin typeface="Noto Sans SC"/>
                <a:ea typeface="Noto Sans SC"/>
                <a:sym typeface="Noto Sans SC"/>
              </a:rPr>
              <a:t>Argon2id</a:t>
            </a:r>
            <a:r>
              <a:rPr lang="en-US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算法，确保不可逆的密文形式</a:t>
            </a:r>
            <a:r>
              <a:rPr lang="zh-CN" altLang="en-US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，阻碍侧信道攻击和</a:t>
            </a:r>
            <a:r>
              <a:rPr lang="en-US" altLang="zh-CN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GPU</a:t>
            </a:r>
            <a:r>
              <a:rPr lang="zh-CN" altLang="en-US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计算；</a:t>
            </a:r>
            <a:endParaRPr lang="en-US" sz="1500" dirty="0">
              <a:solidFill>
                <a:srgbClr val="4B5563"/>
              </a:solidFill>
              <a:latin typeface="Noto Sans SC"/>
              <a:ea typeface="Noto Sans SC"/>
              <a:sym typeface="Noto Sans SC"/>
            </a:endParaRPr>
          </a:p>
          <a:p>
            <a:pPr indent="0">
              <a:lnSpc>
                <a:spcPct val="125000"/>
              </a:lnSpc>
              <a:spcBef>
                <a:spcPts val="800"/>
              </a:spcBef>
              <a:defRPr/>
            </a:pPr>
            <a:endParaRPr lang="en-US" sz="1500" dirty="0">
              <a:solidFill>
                <a:srgbClr val="4B5563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116DC6DC-3C52-3ABF-5F65-D5ABAFA994FA}"/>
              </a:ext>
            </a:extLst>
          </p:cNvPr>
          <p:cNvSpPr/>
          <p:nvPr/>
        </p:nvSpPr>
        <p:spPr>
          <a:xfrm>
            <a:off x="11114689" y="1297840"/>
            <a:ext cx="8373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示例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49E9024C-CB3A-93E1-F16A-0444C90E7F98}"/>
              </a:ext>
            </a:extLst>
          </p:cNvPr>
          <p:cNvSpPr/>
          <p:nvPr/>
        </p:nvSpPr>
        <p:spPr>
          <a:xfrm>
            <a:off x="6695090" y="1752412"/>
            <a:ext cx="5281448" cy="2722179"/>
          </a:xfrm>
          <a:prstGeom prst="roundRect">
            <a:avLst>
              <a:gd name="adj" fmla="val 3529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>
            <a:extLst>
              <a:ext uri="{FF2B5EF4-FFF2-40B4-BE49-F238E27FC236}">
                <a16:creationId xmlns:a16="http://schemas.microsoft.com/office/drawing/2014/main" id="{C3E0F4FD-7019-7F87-64C0-FD98F230451D}"/>
              </a:ext>
            </a:extLst>
          </p:cNvPr>
          <p:cNvSpPr/>
          <p:nvPr/>
        </p:nvSpPr>
        <p:spPr>
          <a:xfrm>
            <a:off x="6978870" y="1993966"/>
            <a:ext cx="4771696" cy="223907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900" b="0" i="0" u="none" strike="noStrike" dirty="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// 1. </a:t>
            </a:r>
            <a:r>
              <a:rPr lang="en-US" sz="900" b="0" i="0" u="none" strike="noStrike" dirty="0" err="1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密码哈希校验</a:t>
            </a:r>
            <a:endParaRPr lang="en-US" sz="1100" dirty="0"/>
          </a:p>
          <a:p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const 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passwordOk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 = await argon2.verify(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user.passwordHash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, password);</a:t>
            </a:r>
          </a:p>
          <a:p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if (!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passwordOk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) {  </a:t>
            </a:r>
          </a:p>
          <a:p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await 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recordLoginFailure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);  </a:t>
            </a:r>
          </a:p>
          <a:p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return 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invalidCredentials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(res);</a:t>
            </a:r>
          </a:p>
          <a:p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}await </a:t>
            </a:r>
          </a:p>
          <a:p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clearLoginFailures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dirty="0" err="1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900" dirty="0">
                <a:solidFill>
                  <a:srgbClr val="A7F3D0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</a:p>
          <a:p>
            <a:endParaRPr lang="en-US" sz="900" b="0" i="0" u="none" strike="noStrike" dirty="0">
              <a:solidFill>
                <a:srgbClr val="A7F3D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00000"/>
              </a:lnSpc>
            </a:pPr>
            <a:r>
              <a:rPr lang="en-US" sz="900" b="0" i="0" u="none" strike="noStrike" dirty="0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// 2. </a:t>
            </a:r>
            <a:r>
              <a:rPr lang="en-US" sz="900" b="0" i="0" u="none" strike="noStrike" dirty="0" err="1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失败计数与锁定</a:t>
            </a:r>
            <a:endParaRPr lang="en-US" sz="900" b="0" i="0" u="none" strike="noStrike" dirty="0">
              <a:solidFill>
                <a:srgbClr val="9CA3A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const MAX_ATTEMPTS = 5;</a:t>
            </a: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const LOCK_SECONDS = 15 * 60;</a:t>
            </a: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export async function 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isLoginLocked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: string): </a:t>
            </a: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Promise&lt;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boolean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&gt; {  </a:t>
            </a: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const attempts = Number(await 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redis.get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lockKey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)));  </a:t>
            </a: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return </a:t>
            </a:r>
            <a:r>
              <a:rPr lang="en-US" sz="9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Number.isFinite</a:t>
            </a:r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(attempts) &amp;&amp; attempts &gt;= MAX_ATTEMPTS;</a:t>
            </a:r>
          </a:p>
          <a:p>
            <a:r>
              <a:rPr lang="en-US" sz="9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900" b="0" i="0" u="none" strike="noStrike" dirty="0">
              <a:solidFill>
                <a:srgbClr val="BFDBF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36FD5179-E5AE-1ED4-136C-2A7E0F0FF0E6}"/>
              </a:ext>
            </a:extLst>
          </p:cNvPr>
          <p:cNvSpPr/>
          <p:nvPr/>
        </p:nvSpPr>
        <p:spPr>
          <a:xfrm>
            <a:off x="9414643" y="4892126"/>
            <a:ext cx="2235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pic>
        <p:nvPicPr>
          <p:cNvPr id="22" name="Picture 5">
            <a:extLst>
              <a:ext uri="{FF2B5EF4-FFF2-40B4-BE49-F238E27FC236}">
                <a16:creationId xmlns:a16="http://schemas.microsoft.com/office/drawing/2014/main" id="{D58620E2-2211-3372-1076-24283EDFAC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77311" y="1285766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11">
            <a:extLst>
              <a:ext uri="{FF2B5EF4-FFF2-40B4-BE49-F238E27FC236}">
                <a16:creationId xmlns:a16="http://schemas.microsoft.com/office/drawing/2014/main" id="{F8BDE4E6-3A86-6354-0D2C-41542316F6A8}"/>
              </a:ext>
            </a:extLst>
          </p:cNvPr>
          <p:cNvSpPr/>
          <p:nvPr/>
        </p:nvSpPr>
        <p:spPr>
          <a:xfrm>
            <a:off x="3765331" y="4384568"/>
            <a:ext cx="2229069" cy="163435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1600" b="1" dirty="0" err="1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登录限流</a:t>
            </a:r>
            <a:r>
              <a:rPr lang="en-US" altLang="zh-CN" sz="1600" b="1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：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500" dirty="0" err="1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设定连续失败阈值，触发后自动锁定</a:t>
            </a:r>
            <a:r>
              <a:rPr lang="zh-CN" altLang="en-US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阻断</a:t>
            </a:r>
            <a:endParaRPr lang="en-US" altLang="zh-CN" sz="1500" dirty="0">
              <a:solidFill>
                <a:srgbClr val="4B5563"/>
              </a:solidFill>
              <a:latin typeface="Noto Sans SC"/>
              <a:ea typeface="Noto Sans SC"/>
              <a:sym typeface="Noto Sans SC"/>
            </a:endParaRPr>
          </a:p>
          <a:p>
            <a:pPr indent="0">
              <a:lnSpc>
                <a:spcPct val="125000"/>
              </a:lnSpc>
              <a:spcBef>
                <a:spcPts val="800"/>
              </a:spcBef>
              <a:defRPr/>
            </a:pPr>
            <a:endParaRPr lang="en-US" sz="1500" dirty="0">
              <a:solidFill>
                <a:srgbClr val="4B5563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24" name="AutoShape 11">
            <a:extLst>
              <a:ext uri="{FF2B5EF4-FFF2-40B4-BE49-F238E27FC236}">
                <a16:creationId xmlns:a16="http://schemas.microsoft.com/office/drawing/2014/main" id="{0B137510-85F3-3894-6FF9-4EF197A4CCF8}"/>
              </a:ext>
            </a:extLst>
          </p:cNvPr>
          <p:cNvSpPr/>
          <p:nvPr/>
        </p:nvSpPr>
        <p:spPr>
          <a:xfrm>
            <a:off x="7144848" y="4818554"/>
            <a:ext cx="4074945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500" b="1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Argon2id</a:t>
            </a:r>
            <a:r>
              <a:rPr lang="en-US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算法</a:t>
            </a:r>
            <a:r>
              <a:rPr lang="zh-CN" altLang="en-US" sz="1500" dirty="0">
                <a:solidFill>
                  <a:srgbClr val="4B5563"/>
                </a:solidFill>
                <a:latin typeface="Noto Sans SC"/>
                <a:ea typeface="Noto Sans SC"/>
                <a:sym typeface="Noto Sans SC"/>
              </a:rPr>
              <a:t>：</a:t>
            </a:r>
            <a:endParaRPr lang="en-US" sz="1500" dirty="0">
              <a:solidFill>
                <a:srgbClr val="4B5563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内存设置为</a:t>
            </a:r>
            <a:r>
              <a:rPr lang="en-US" altLang="zh-CN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64MB</a:t>
            </a:r>
            <a:r>
              <a:rPr lang="zh-CN" altLang="en-US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；迭代次数设置为</a:t>
            </a:r>
            <a:r>
              <a:rPr lang="en-US" altLang="zh-CN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3</a:t>
            </a:r>
            <a:r>
              <a:rPr lang="zh-CN" altLang="en-US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；并行数设置为</a:t>
            </a:r>
            <a:r>
              <a:rPr lang="en-US" altLang="zh-CN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1</a:t>
            </a:r>
            <a:r>
              <a:rPr lang="zh-CN" altLang="en-US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；输出哈希长度为</a:t>
            </a:r>
            <a:r>
              <a:rPr lang="en-US" altLang="zh-CN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32</a:t>
            </a:r>
            <a:r>
              <a:rPr lang="zh-CN" altLang="en-US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字节，较高的熵</a:t>
            </a:r>
            <a:endParaRPr lang="en-US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181495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D8294-1EE5-B125-20DD-DCAC958F5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>
            <a:extLst>
              <a:ext uri="{FF2B5EF4-FFF2-40B4-BE49-F238E27FC236}">
                <a16:creationId xmlns:a16="http://schemas.microsoft.com/office/drawing/2014/main" id="{0E86CA2F-E662-B127-2D19-2CE783FE9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4B44AD1-0BF9-9A52-BF69-2D359489036A}"/>
              </a:ext>
            </a:extLst>
          </p:cNvPr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8C539C78-BB75-D62A-CB17-042B121143C8}"/>
              </a:ext>
            </a:extLst>
          </p:cNvPr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安全与风险</a:t>
            </a:r>
            <a:endParaRPr lang="en-US" sz="1100" dirty="0"/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95F0FF48-1EFB-4B08-19E7-A4304BCB9204}"/>
              </a:ext>
            </a:extLst>
          </p:cNvPr>
          <p:cNvSpPr/>
          <p:nvPr/>
        </p:nvSpPr>
        <p:spPr>
          <a:xfrm>
            <a:off x="1647536" y="1234339"/>
            <a:ext cx="3492938" cy="508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会话</a:t>
            </a:r>
            <a:r>
              <a:rPr lang="en-US" altLang="zh-CN" sz="1800" b="1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Token</a:t>
            </a:r>
            <a:r>
              <a:rPr lang="zh-CN" altLang="en-US" sz="1800" b="1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安全</a:t>
            </a:r>
            <a:endParaRPr lang="en-US" sz="1100" dirty="0"/>
          </a:p>
        </p:txBody>
      </p:sp>
      <p:sp>
        <p:nvSpPr>
          <p:cNvPr id="5" name="AutoShape 17">
            <a:extLst>
              <a:ext uri="{FF2B5EF4-FFF2-40B4-BE49-F238E27FC236}">
                <a16:creationId xmlns:a16="http://schemas.microsoft.com/office/drawing/2014/main" id="{9E56FC88-83D7-4ED8-210B-E1183ACD6F90}"/>
              </a:ext>
            </a:extLst>
          </p:cNvPr>
          <p:cNvSpPr/>
          <p:nvPr/>
        </p:nvSpPr>
        <p:spPr>
          <a:xfrm>
            <a:off x="555777" y="2084595"/>
            <a:ext cx="83732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示例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utoShape 18">
            <a:extLst>
              <a:ext uri="{FF2B5EF4-FFF2-40B4-BE49-F238E27FC236}">
                <a16:creationId xmlns:a16="http://schemas.microsoft.com/office/drawing/2014/main" id="{12F9145D-114D-6F36-3ED9-D90815E7C3CC}"/>
              </a:ext>
            </a:extLst>
          </p:cNvPr>
          <p:cNvSpPr/>
          <p:nvPr/>
        </p:nvSpPr>
        <p:spPr>
          <a:xfrm>
            <a:off x="555777" y="2678306"/>
            <a:ext cx="5113283" cy="2437355"/>
          </a:xfrm>
          <a:prstGeom prst="roundRect">
            <a:avLst>
              <a:gd name="adj" fmla="val 3529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19">
            <a:extLst>
              <a:ext uri="{FF2B5EF4-FFF2-40B4-BE49-F238E27FC236}">
                <a16:creationId xmlns:a16="http://schemas.microsoft.com/office/drawing/2014/main" id="{6FFB6808-EE99-B83D-057B-417C0A341DA8}"/>
              </a:ext>
            </a:extLst>
          </p:cNvPr>
          <p:cNvSpPr/>
          <p:nvPr/>
        </p:nvSpPr>
        <p:spPr>
          <a:xfrm>
            <a:off x="897364" y="2776872"/>
            <a:ext cx="4771696" cy="223907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export async function 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consumeRefreshToken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rawToken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: string): Promise&lt;string | null&gt;{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 const key = 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refreshKey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rawToken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 const 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= await 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redis.get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(key);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 if (!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) {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null;  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 await 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redis.del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(key); // </a:t>
            </a:r>
            <a:r>
              <a:rPr lang="zh-CN" alt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关键：消费即删除，防重放</a:t>
            </a:r>
            <a:endParaRPr lang="en-US" altLang="zh-CN" sz="1100" dirty="0">
              <a:solidFill>
                <a:srgbClr val="BFDBF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zh-CN" alt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return </a:t>
            </a:r>
            <a:r>
              <a:rPr lang="en-US" sz="1100" dirty="0" err="1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userId</a:t>
            </a:r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</a:p>
          <a:p>
            <a:r>
              <a:rPr lang="en-US" sz="1100" dirty="0">
                <a:solidFill>
                  <a:srgbClr val="BFDBFE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 dirty="0">
              <a:solidFill>
                <a:srgbClr val="BFDBF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" name="AutoShape 20">
            <a:extLst>
              <a:ext uri="{FF2B5EF4-FFF2-40B4-BE49-F238E27FC236}">
                <a16:creationId xmlns:a16="http://schemas.microsoft.com/office/drawing/2014/main" id="{179F1DDF-2A44-E0EC-A41C-52867D4A1E33}"/>
              </a:ext>
            </a:extLst>
          </p:cNvPr>
          <p:cNvSpPr/>
          <p:nvPr/>
        </p:nvSpPr>
        <p:spPr>
          <a:xfrm>
            <a:off x="9414643" y="4892126"/>
            <a:ext cx="2235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sp>
        <p:nvSpPr>
          <p:cNvPr id="9" name="AutoShape 11">
            <a:extLst>
              <a:ext uri="{FF2B5EF4-FFF2-40B4-BE49-F238E27FC236}">
                <a16:creationId xmlns:a16="http://schemas.microsoft.com/office/drawing/2014/main" id="{18B90D5A-1512-54FD-A283-AA51BFD02212}"/>
              </a:ext>
            </a:extLst>
          </p:cNvPr>
          <p:cNvSpPr/>
          <p:nvPr/>
        </p:nvSpPr>
        <p:spPr>
          <a:xfrm>
            <a:off x="6296970" y="1471438"/>
            <a:ext cx="5767555" cy="14399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b="1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身份验证授权：</a:t>
            </a: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Web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应用中，常见的身份管理、验证授权机制：</a:t>
            </a:r>
            <a:endParaRPr lang="en-US" altLang="zh-CN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Cookie-session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  以及 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Token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（令牌），这里选择实现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token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（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JWT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）</a:t>
            </a:r>
            <a:endParaRPr lang="en-US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2AEC46EB-5504-42DA-AF32-EDE1A5615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318" y="1135040"/>
            <a:ext cx="751568" cy="751568"/>
          </a:xfrm>
          <a:prstGeom prst="rect">
            <a:avLst/>
          </a:prstGeom>
        </p:spPr>
      </p:pic>
      <p:sp>
        <p:nvSpPr>
          <p:cNvPr id="11" name="AutoShape 11">
            <a:extLst>
              <a:ext uri="{FF2B5EF4-FFF2-40B4-BE49-F238E27FC236}">
                <a16:creationId xmlns:a16="http://schemas.microsoft.com/office/drawing/2014/main" id="{C6DE8A9E-213B-6C59-903B-4C1B0B06802A}"/>
              </a:ext>
            </a:extLst>
          </p:cNvPr>
          <p:cNvSpPr/>
          <p:nvPr/>
        </p:nvSpPr>
        <p:spPr>
          <a:xfrm>
            <a:off x="6457330" y="3268165"/>
            <a:ext cx="5281447" cy="19824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      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相较于单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Token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实现，双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Token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机制设置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access token 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和 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refresh token,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比单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Token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更加安全，合理设置可以保证攻击窗口更短；</a:t>
            </a:r>
            <a:endParaRPr lang="en-US" altLang="zh-CN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      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具体实现中，我们使用</a:t>
            </a:r>
            <a:r>
              <a:rPr lang="en-US" altLang="zh-CN" sz="1500" dirty="0" err="1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redis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存储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refresh token,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为实现吊销黑名单留下接口；</a:t>
            </a:r>
            <a:endParaRPr lang="en-US" altLang="zh-CN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      </a:t>
            </a:r>
            <a:endParaRPr lang="en-US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/>
            </a:endParaRPr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C3BE66E2-1639-833C-0F35-AB21ABC1F067}"/>
              </a:ext>
            </a:extLst>
          </p:cNvPr>
          <p:cNvSpPr/>
          <p:nvPr/>
        </p:nvSpPr>
        <p:spPr>
          <a:xfrm>
            <a:off x="6457330" y="4822786"/>
            <a:ext cx="5281447" cy="7845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       Access token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 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TTL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设置为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30 mins ;Refresh token TTL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设置为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7d; 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除此之外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,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实现了刷新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refresh token;</a:t>
            </a: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E1B439F6-E108-AF71-BD45-DFD974FA7C2D}"/>
              </a:ext>
            </a:extLst>
          </p:cNvPr>
          <p:cNvSpPr/>
          <p:nvPr/>
        </p:nvSpPr>
        <p:spPr>
          <a:xfrm>
            <a:off x="6406055" y="3066900"/>
            <a:ext cx="5470635" cy="45719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7206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22E105-A61B-1979-48F2-5122C6045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">
            <a:extLst>
              <a:ext uri="{FF2B5EF4-FFF2-40B4-BE49-F238E27FC236}">
                <a16:creationId xmlns:a16="http://schemas.microsoft.com/office/drawing/2014/main" id="{140BBB6B-E815-2E19-1EA7-ED6A9D8302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2FD2DCA-AD8E-1C50-40EC-F826EBE950AC}"/>
              </a:ext>
            </a:extLst>
          </p:cNvPr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858BE89E-5683-6704-2A1C-351809682AE9}"/>
              </a:ext>
            </a:extLst>
          </p:cNvPr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安全与风险</a:t>
            </a:r>
            <a:endParaRPr lang="en-US" sz="1100" dirty="0"/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EA78DC13-62DB-8885-A924-0940A97ECE03}"/>
              </a:ext>
            </a:extLst>
          </p:cNvPr>
          <p:cNvSpPr/>
          <p:nvPr/>
        </p:nvSpPr>
        <p:spPr>
          <a:xfrm>
            <a:off x="1563453" y="1591300"/>
            <a:ext cx="1048368" cy="508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权限校验</a:t>
            </a:r>
            <a:endParaRPr lang="en-US" sz="1100" dirty="0"/>
          </a:p>
        </p:txBody>
      </p:sp>
      <p:sp>
        <p:nvSpPr>
          <p:cNvPr id="5" name="AutoShape 20">
            <a:extLst>
              <a:ext uri="{FF2B5EF4-FFF2-40B4-BE49-F238E27FC236}">
                <a16:creationId xmlns:a16="http://schemas.microsoft.com/office/drawing/2014/main" id="{45291CE1-0F65-8AF4-1513-CC6AB71562E7}"/>
              </a:ext>
            </a:extLst>
          </p:cNvPr>
          <p:cNvSpPr/>
          <p:nvPr/>
        </p:nvSpPr>
        <p:spPr>
          <a:xfrm>
            <a:off x="9414643" y="4892126"/>
            <a:ext cx="2235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324FFDE6-8578-CAD9-6B75-515B1050F6C5}"/>
              </a:ext>
            </a:extLst>
          </p:cNvPr>
          <p:cNvSpPr/>
          <p:nvPr/>
        </p:nvSpPr>
        <p:spPr>
          <a:xfrm>
            <a:off x="947971" y="2283638"/>
            <a:ext cx="1922041" cy="21543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       针对不同的权限角色，在接口层（路由</a:t>
            </a:r>
            <a:r>
              <a:rPr lang="en-US" altLang="zh-CN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/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角色级）进行验证，允许访问或者拦截；</a:t>
            </a:r>
            <a:endParaRPr lang="en-US" altLang="zh-CN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       </a:t>
            </a:r>
            <a:r>
              <a:rPr lang="zh-CN" altLang="en-US" sz="1500" dirty="0">
                <a:solidFill>
                  <a:srgbClr val="4B5563"/>
                </a:solidFill>
                <a:latin typeface="等线" panose="02010600030101010101" pitchFamily="2" charset="-122"/>
                <a:ea typeface="等线" panose="02010600030101010101" pitchFamily="2" charset="-122"/>
                <a:sym typeface="Noto Sans SC"/>
              </a:rPr>
              <a:t>针对操作层水平的权限角色，对资源进行归属校验判断合法性；</a:t>
            </a:r>
            <a:endParaRPr lang="en-US" sz="1500" dirty="0">
              <a:solidFill>
                <a:srgbClr val="4B5563"/>
              </a:solidFill>
              <a:latin typeface="等线" panose="02010600030101010101" pitchFamily="2" charset="-122"/>
              <a:ea typeface="等线" panose="02010600030101010101" pitchFamily="2" charset="-122"/>
              <a:sym typeface="Noto Sans SC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77561D4C-B650-5570-B24C-278E279F69B6}"/>
              </a:ext>
            </a:extLst>
          </p:cNvPr>
          <p:cNvSpPr/>
          <p:nvPr/>
        </p:nvSpPr>
        <p:spPr>
          <a:xfrm rot="5400000" flipV="1">
            <a:off x="2092755" y="3836298"/>
            <a:ext cx="2903716" cy="57807"/>
          </a:xfrm>
          <a:prstGeom prst="roundRect">
            <a:avLst>
              <a:gd name="adj" fmla="val 0"/>
            </a:avLst>
          </a:prstGeom>
          <a:solidFill>
            <a:schemeClr val="accent4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C0934E27-BA9D-6997-3C55-50D5B4402B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200" y="1656489"/>
            <a:ext cx="442812" cy="442812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B7D341CA-6090-B584-0C26-ECCA5823B8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4107" y="1540940"/>
            <a:ext cx="511065" cy="511065"/>
          </a:xfrm>
          <a:prstGeom prst="rect">
            <a:avLst/>
          </a:prstGeom>
        </p:spPr>
      </p:pic>
      <p:sp>
        <p:nvSpPr>
          <p:cNvPr id="10" name="AutoShape 6">
            <a:extLst>
              <a:ext uri="{FF2B5EF4-FFF2-40B4-BE49-F238E27FC236}">
                <a16:creationId xmlns:a16="http://schemas.microsoft.com/office/drawing/2014/main" id="{4DD1FCDB-CFFA-5FCB-AB4A-B8833A9B4570}"/>
              </a:ext>
            </a:extLst>
          </p:cNvPr>
          <p:cNvSpPr/>
          <p:nvPr/>
        </p:nvSpPr>
        <p:spPr>
          <a:xfrm>
            <a:off x="5573150" y="1540940"/>
            <a:ext cx="1600160" cy="50800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日志与审计？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4915A9A7-5382-BF41-03B4-65C279C6D5E7}"/>
              </a:ext>
            </a:extLst>
          </p:cNvPr>
          <p:cNvSpPr/>
          <p:nvPr/>
        </p:nvSpPr>
        <p:spPr>
          <a:xfrm>
            <a:off x="4056806" y="2337353"/>
            <a:ext cx="2396731" cy="29797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spcBef>
                <a:spcPts val="800"/>
              </a:spcBef>
              <a:defRPr/>
            </a:pPr>
            <a:r>
              <a:rPr lang="zh-CN" altLang="en-US" sz="1500" b="1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结合实际，针对场景是否需要设计审计，比如对修改成绩的操作进行记录？</a:t>
            </a:r>
            <a:endParaRPr lang="en-US" altLang="zh-CN" sz="1500" b="1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50000"/>
              </a:lnSpc>
              <a:spcBef>
                <a:spcPts val="800"/>
              </a:spcBef>
              <a:defRPr/>
            </a:pPr>
            <a:r>
              <a:rPr lang="zh-CN" altLang="en-US" sz="1500" b="1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成绩等相关数据归属，纳入国家三等保护？</a:t>
            </a:r>
            <a:endParaRPr lang="en-US" altLang="zh-CN" sz="1500" b="1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50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简单实现操作审计，设计审计表，保存记录在数据库中？</a:t>
            </a:r>
            <a:endParaRPr lang="en-US" altLang="zh-CN" sz="1500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F7C0A91-7A4C-2AEB-7CE1-3FC306B286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9531" y="2397497"/>
            <a:ext cx="1892944" cy="3821546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5841CF6-DF57-3472-D33B-C35AC749CE19}"/>
              </a:ext>
            </a:extLst>
          </p:cNvPr>
          <p:cNvCxnSpPr/>
          <p:nvPr/>
        </p:nvCxnSpPr>
        <p:spPr>
          <a:xfrm>
            <a:off x="5391992" y="5781127"/>
            <a:ext cx="10615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AutoShape 5">
            <a:extLst>
              <a:ext uri="{FF2B5EF4-FFF2-40B4-BE49-F238E27FC236}">
                <a16:creationId xmlns:a16="http://schemas.microsoft.com/office/drawing/2014/main" id="{22EA1F6B-19CD-AA3C-D2CD-B18F87F1F50F}"/>
              </a:ext>
            </a:extLst>
          </p:cNvPr>
          <p:cNvSpPr/>
          <p:nvPr/>
        </p:nvSpPr>
        <p:spPr>
          <a:xfrm rot="5400000" flipV="1">
            <a:off x="6446159" y="5753425"/>
            <a:ext cx="508002" cy="55405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5" name="AutoShape 11">
            <a:extLst>
              <a:ext uri="{FF2B5EF4-FFF2-40B4-BE49-F238E27FC236}">
                <a16:creationId xmlns:a16="http://schemas.microsoft.com/office/drawing/2014/main" id="{59EEE456-8892-BB3D-A2D0-E4ABDAD94047}"/>
              </a:ext>
            </a:extLst>
          </p:cNvPr>
          <p:cNvSpPr/>
          <p:nvPr/>
        </p:nvSpPr>
        <p:spPr>
          <a:xfrm>
            <a:off x="9173892" y="2283638"/>
            <a:ext cx="2626690" cy="27461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b="1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实现基础的日志功能？</a:t>
            </a:r>
            <a:endParaRPr lang="en-US" altLang="zh-CN" sz="1500" b="1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比如使用</a:t>
            </a:r>
            <a:r>
              <a:rPr lang="en-US" altLang="zh-CN" sz="1500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Winston</a:t>
            </a:r>
            <a:r>
              <a:rPr lang="zh-CN" altLang="en-US" sz="1500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库</a:t>
            </a:r>
            <a:endParaRPr lang="en-US" altLang="zh-CN" sz="1500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方便运维</a:t>
            </a:r>
            <a:r>
              <a:rPr lang="en-US" altLang="zh-CN" sz="1500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,</a:t>
            </a:r>
            <a:r>
              <a:rPr lang="zh-CN" altLang="en-US" sz="1500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并定义简单的事件，</a:t>
            </a:r>
            <a:endParaRPr lang="en-US" altLang="zh-CN" sz="1500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可以进行入侵检测等；</a:t>
            </a:r>
            <a:endParaRPr lang="en-US" altLang="zh-CN" sz="1500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需要注意日志中不能包含敏感</a:t>
            </a:r>
            <a:endParaRPr lang="en-US" altLang="zh-CN" sz="1500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的数据信息</a:t>
            </a:r>
            <a:endParaRPr lang="en-US" altLang="zh-CN" sz="1500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  <a:defRPr/>
            </a:pPr>
            <a:r>
              <a:rPr lang="zh-CN" altLang="en-US" sz="1500" dirty="0">
                <a:solidFill>
                  <a:schemeClr val="tx1"/>
                </a:solidFill>
                <a:latin typeface="Noto Sans SC"/>
                <a:ea typeface="Noto Sans SC"/>
                <a:sym typeface="Noto Sans SC"/>
              </a:rPr>
              <a:t>日志数据保存在文件中</a:t>
            </a:r>
            <a:endParaRPr lang="en-US" altLang="zh-CN" sz="1500" dirty="0">
              <a:solidFill>
                <a:schemeClr val="tx1"/>
              </a:solidFill>
              <a:latin typeface="Noto Sans SC"/>
              <a:ea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617029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87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5240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未来产品的峰值请求与存储容量将达到多少？能否支撑业务发展？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794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768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基于假设的科学估算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429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基准流量：5000 日活跃用户 (DAU)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人均行为：每人每天产生 50 次 API 请求</a:t>
            </a: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波动系数：高峰期流量按日均流量的 5 倍计算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2540000"/>
            <a:ext cx="5207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794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2768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RPS 压力测算结果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3429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平均并发 ≈</a:t>
            </a:r>
            <a:r>
              <a:rPr lang="en-US" sz="22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2.89 RPS</a:t>
            </a:r>
            <a:r>
              <a:rPr lang="en-US" sz="15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峰值并发 ≈</a:t>
            </a:r>
            <a:r>
              <a:rPr lang="en-US" sz="22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 RPS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注：RPS = (DAU * 人均请求) / 86400 (秒) * 峰值系数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5207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53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4927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存储资源需求预估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5588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预计期末用户作业与资源文件总存储量约为：</a:t>
            </a:r>
            <a:r>
              <a:rPr lang="en-US" sz="2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25 GB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699000"/>
            <a:ext cx="5207000" cy="1778000"/>
          </a:xfrm>
          <a:prstGeom prst="roundRect">
            <a:avLst>
              <a:gd name="adj" fmla="val 5714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953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4927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架构容量结论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5588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当前单机服务器部署足以应对当前压力，</a:t>
            </a:r>
            <a:b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未来业务扩张时，支持通过容器化进行快速水平扩展。</a:t>
            </a:r>
            <a:endParaRPr lang="en-US" sz="1100"/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3E94A84D-8846-CFDB-2A31-7A264879542B}"/>
              </a:ext>
            </a:extLst>
          </p:cNvPr>
          <p:cNvSpPr/>
          <p:nvPr/>
        </p:nvSpPr>
        <p:spPr>
          <a:xfrm>
            <a:off x="762000" y="508000"/>
            <a:ext cx="224395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容量与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9525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018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625600"/>
            <a:ext cx="927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核心疑问：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项目在高并发场景下是否存在潜在的性能瓶颈？应采取哪些技术手段进行针对性优化？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30500"/>
            <a:ext cx="5207000" cy="3619500"/>
          </a:xfrm>
          <a:prstGeom prst="roundRect">
            <a:avLst>
              <a:gd name="adj" fmla="val 56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730500"/>
            <a:ext cx="5207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11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3111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CPU 计算密集型瓶颈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937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43000" y="40640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🔍 痛点分析：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Node.js 单线程模型在处理复杂逻辑或大量计算任务时，会长时间占用主线程，阻塞事件循环，导致无法及时响应其他网络请求。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5207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143000" y="53340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优化方案：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将耗时计算任务与主线程彻底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解耦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，使用独立的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Worker 节点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或 进程池异步处理，确保主线程专注于处理 I/O 请求。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730500"/>
            <a:ext cx="5207000" cy="3619500"/>
          </a:xfrm>
          <a:prstGeom prst="roundRect">
            <a:avLst>
              <a:gd name="adj" fmla="val 56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223000" y="2730500"/>
            <a:ext cx="5207000" cy="762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77000" y="3048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7366000" y="3111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数据库连接与并发瓶颈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3937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604000" y="40640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🔍 痛点分析：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在业务高峰期，大量并发读取请求容易迅速耗尽数据库连接池，导致新请求排队等待，甚至引发数据库查询超时与系统雪崩。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5207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04000" y="53340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优化方案：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引入高性能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Redis 缓存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中间层，对高频访问的“热点数据”进行缓存，显著降低对数据库的直接查询压力。</a:t>
            </a:r>
            <a:endParaRPr lang="en-US" sz="1100"/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A7348503-E750-F44F-DACD-EF74D9CFE3C4}"/>
              </a:ext>
            </a:extLst>
          </p:cNvPr>
          <p:cNvSpPr/>
          <p:nvPr/>
        </p:nvSpPr>
        <p:spPr>
          <a:xfrm>
            <a:off x="762000" y="508000"/>
            <a:ext cx="224395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容量与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603500" cy="3302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0320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平均每秒请求数 (RPS)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≈ 2.89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RPS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937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(5000 DAU × 50 请求/天) ÷ 86400 秒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56000" y="1778000"/>
            <a:ext cx="2603500" cy="3302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0000" y="2032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254500" y="20320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峰值每秒请求数 (RPS)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556000" y="27940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≈ 15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RPS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83000" y="3937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 RPS × 峰值乘数(5倍)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778000"/>
            <a:ext cx="2603500" cy="3302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032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20320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预估期末作业存储量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27940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≈ 25</a:t>
            </a: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GB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3937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5000 用户 × 5 MB/用户 (平均单文件大小)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80500" y="1778000"/>
            <a:ext cx="2603500" cy="3302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4500" y="2032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779000" y="20320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在线批改效率提升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80500" y="2794000"/>
            <a:ext cx="260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≈ 40%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207500" y="3937000"/>
            <a:ext cx="234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基于内测版本用户体验测试的量化数据对比</a:t>
            </a:r>
            <a:endParaRPr lang="en-US" sz="1100"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03787829-EAAF-0D33-5D27-56EA7F2AF2F0}"/>
              </a:ext>
            </a:extLst>
          </p:cNvPr>
          <p:cNvSpPr/>
          <p:nvPr/>
        </p:nvSpPr>
        <p:spPr>
          <a:xfrm>
            <a:off x="762000" y="508000"/>
            <a:ext cx="2243959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容量与</a:t>
            </a: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VkOTQzMzQ0MDU0Nzc1ZDYxNGFjYTJiMGQ1NjA3NT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1071</Words>
  <Application>Microsoft Office PowerPoint</Application>
  <PresentationFormat>宽屏</PresentationFormat>
  <Paragraphs>182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Noto Sans SC</vt:lpstr>
      <vt:lpstr>等线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snow zhang</cp:lastModifiedBy>
  <cp:revision>80</cp:revision>
  <dcterms:created xsi:type="dcterms:W3CDTF">2026-04-28T13:17:00Z</dcterms:created>
  <dcterms:modified xsi:type="dcterms:W3CDTF">2026-04-30T09:23:22Z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598864DD0341432CB86CBB06DF73FCEA_12</vt:lpwstr>
  </property>
  <property fmtid="{D5CDD505-2E9C-101B-9397-08002B2CF9AE}" pid="3" name="KSOProductBuildVer">
    <vt:lpwstr>2052-12.1.0.16929</vt:lpwstr>
  </property>
</Properties>
</file>