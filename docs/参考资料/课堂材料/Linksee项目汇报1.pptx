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71" r:id="rId7"/>
    <p:sldId id="286" r:id="rId8"/>
    <p:sldId id="287" r:id="rId9"/>
    <p:sldId id="288" r:id="rId10"/>
    <p:sldId id="277" r:id="rId11"/>
    <p:sldId id="278" r:id="rId12"/>
    <p:sldId id="279" r:id="rId13"/>
    <p:sldId id="289" r:id="rId14"/>
    <p:sldId id="280" r:id="rId15"/>
    <p:sldId id="281" r:id="rId16"/>
    <p:sldId id="276" r:id="rId17"/>
  </p:sldIdLst>
  <p:sldSz cx="12192000" cy="6858000"/>
  <p:notesSz cx="12192000" cy="6858000"/>
  <p:custDataLst>
    <p:tags r:id="rId19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21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28"/>
  </p:normalViewPr>
  <p:slideViewPr>
    <p:cSldViewPr showGuides="1">
      <p:cViewPr varScale="1">
        <p:scale>
          <a:sx n="96" d="100"/>
          <a:sy n="96" d="100"/>
        </p:scale>
        <p:origin x="176" y="568"/>
      </p:cViewPr>
      <p:guideLst>
        <p:guide orient="horz" pos="2840"/>
        <p:guide pos="21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42BC9-F75E-44C0-80D0-89D8B748178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3E063-70F0-4F2A-B81C-52505080827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F53E063-70F0-4F2A-B81C-525050808275}" type="slidenum">
              <a:rPr kumimoji="0" lang="zh-CN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11</a:t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4155"/>
                </a:solidFill>
                <a:latin typeface="PingFang SC Light"/>
                <a:cs typeface="PingFang SC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334155"/>
                </a:solidFill>
                <a:latin typeface="PingFang SC Light"/>
                <a:cs typeface="PingFang SC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76897"/>
            <a:ext cx="47288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03375" y="1447411"/>
            <a:ext cx="10026015" cy="2298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334155"/>
                </a:solidFill>
                <a:latin typeface="PingFang SC Light"/>
                <a:cs typeface="PingFang SC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image" Target="../media/image20.png"/><Relationship Id="rId21" Type="http://schemas.openxmlformats.org/officeDocument/2006/relationships/tags" Target="../tags/tag22.xml"/><Relationship Id="rId34" Type="http://schemas.openxmlformats.org/officeDocument/2006/relationships/image" Target="../media/image15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image" Target="../media/image14.png"/><Relationship Id="rId38" Type="http://schemas.openxmlformats.org/officeDocument/2006/relationships/image" Target="../media/image19.pn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13.png"/><Relationship Id="rId37" Type="http://schemas.openxmlformats.org/officeDocument/2006/relationships/image" Target="../media/image18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image" Target="../media/image17.png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12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notesSlide" Target="../notesSlides/notesSlide1.xml"/><Relationship Id="rId35" Type="http://schemas.openxmlformats.org/officeDocument/2006/relationships/image" Target="../media/image16.png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32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3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34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50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tags" Target="../tags/tag40.xml"/><Relationship Id="rId16" Type="http://schemas.openxmlformats.org/officeDocument/2006/relationships/image" Target="../media/image53.png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15" Type="http://schemas.openxmlformats.org/officeDocument/2006/relationships/image" Target="../media/image52.png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image" Target="../media/image56.png"/><Relationship Id="rId2" Type="http://schemas.openxmlformats.org/officeDocument/2006/relationships/tags" Target="../tags/tag50.xml"/><Relationship Id="rId16" Type="http://schemas.openxmlformats.org/officeDocument/2006/relationships/image" Target="../media/image55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image" Target="../media/image32.png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0054" y="5097957"/>
              <a:ext cx="4470944" cy="137904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274297" y="362203"/>
            <a:ext cx="154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11CAA0"/>
                </a:solidFill>
                <a:latin typeface="Hiragino Sans GB W6"/>
                <a:cs typeface="Hiragino Sans GB W6"/>
              </a:rPr>
              <a:t>软件⼯程⼩组实验汇报</a:t>
            </a:r>
            <a:endParaRPr sz="1200">
              <a:latin typeface="Hiragino Sans GB W6"/>
              <a:cs typeface="Hiragino Sans GB W6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381000"/>
            <a:ext cx="11430000" cy="2914015"/>
            <a:chOff x="381000" y="381000"/>
            <a:chExt cx="11430000" cy="2914015"/>
          </a:xfrm>
        </p:grpSpPr>
        <p:sp>
          <p:nvSpPr>
            <p:cNvPr id="7" name="object 7"/>
            <p:cNvSpPr/>
            <p:nvPr/>
          </p:nvSpPr>
          <p:spPr>
            <a:xfrm>
              <a:off x="381000" y="762012"/>
              <a:ext cx="11430000" cy="2533015"/>
            </a:xfrm>
            <a:custGeom>
              <a:avLst/>
              <a:gdLst/>
              <a:ahLst/>
              <a:cxnLst/>
              <a:rect l="l" t="t" r="r" b="b"/>
              <a:pathLst>
                <a:path w="11430000" h="2533015">
                  <a:moveTo>
                    <a:pt x="952500" y="2496591"/>
                  </a:moveTo>
                  <a:lnTo>
                    <a:pt x="949477" y="2489327"/>
                  </a:lnTo>
                  <a:lnTo>
                    <a:pt x="938771" y="2478608"/>
                  </a:lnTo>
                  <a:lnTo>
                    <a:pt x="931494" y="2475598"/>
                  </a:lnTo>
                  <a:lnTo>
                    <a:pt x="28575" y="2475598"/>
                  </a:lnTo>
                  <a:lnTo>
                    <a:pt x="17449" y="2477846"/>
                  </a:lnTo>
                  <a:lnTo>
                    <a:pt x="8369" y="2483967"/>
                  </a:lnTo>
                  <a:lnTo>
                    <a:pt x="2235" y="2493048"/>
                  </a:lnTo>
                  <a:lnTo>
                    <a:pt x="0" y="2504173"/>
                  </a:lnTo>
                  <a:lnTo>
                    <a:pt x="2235" y="2515298"/>
                  </a:lnTo>
                  <a:lnTo>
                    <a:pt x="8369" y="2524379"/>
                  </a:lnTo>
                  <a:lnTo>
                    <a:pt x="17449" y="2530500"/>
                  </a:lnTo>
                  <a:lnTo>
                    <a:pt x="28575" y="2532748"/>
                  </a:lnTo>
                  <a:lnTo>
                    <a:pt x="923925" y="2532748"/>
                  </a:lnTo>
                  <a:lnTo>
                    <a:pt x="935037" y="2530500"/>
                  </a:lnTo>
                  <a:lnTo>
                    <a:pt x="944118" y="2524379"/>
                  </a:lnTo>
                  <a:lnTo>
                    <a:pt x="950252" y="2515298"/>
                  </a:lnTo>
                  <a:lnTo>
                    <a:pt x="952500" y="2504173"/>
                  </a:lnTo>
                  <a:lnTo>
                    <a:pt x="952500" y="2496591"/>
                  </a:lnTo>
                  <a:close/>
                </a:path>
                <a:path w="11430000" h="2533015">
                  <a:moveTo>
                    <a:pt x="11430000" y="0"/>
                  </a:moveTo>
                  <a:lnTo>
                    <a:pt x="8953500" y="0"/>
                  </a:lnTo>
                  <a:lnTo>
                    <a:pt x="8953500" y="19050"/>
                  </a:lnTo>
                  <a:lnTo>
                    <a:pt x="11430000" y="1905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1CA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381000"/>
              <a:ext cx="2381249" cy="7619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8300" y="1305560"/>
            <a:ext cx="7426325" cy="16357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4800" b="0" dirty="0">
                <a:solidFill>
                  <a:srgbClr val="F7FAFC"/>
                </a:solidFill>
              </a:rPr>
              <a:t>灵犀 (LinkSee) —— 基于 RAG 的云端团队协作平台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8300" y="3556377"/>
            <a:ext cx="364426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80" dirty="0">
                <a:solidFill>
                  <a:srgbClr val="E1E7F0"/>
                </a:solidFill>
                <a:latin typeface="Lantinghei SC Extralight"/>
                <a:cs typeface="Lantinghei SC Extralight"/>
              </a:rPr>
              <a:t>重塑组织效能，沉淀知识资产</a:t>
            </a:r>
            <a:endParaRPr sz="2250">
              <a:latin typeface="Lantinghei SC Extralight"/>
              <a:cs typeface="Lantinghei SC Extra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0640" y="5267325"/>
            <a:ext cx="409321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F7FAFC"/>
                </a:solidFill>
                <a:latin typeface="Hiragino Sans GB W6"/>
                <a:cs typeface="Hiragino Sans GB W6"/>
              </a:rPr>
              <a:t>研发团队成员</a:t>
            </a:r>
            <a:endParaRPr sz="1650" dirty="0">
              <a:latin typeface="Hiragino Sans GB W6"/>
              <a:cs typeface="Hiragino Sans GB W6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023108</a:t>
            </a:r>
            <a:r>
              <a:rPr sz="1350" spc="-6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郑宇 </a:t>
            </a:r>
            <a:r>
              <a:rPr sz="1350" spc="11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</a:t>
            </a:r>
            <a:r>
              <a:rPr sz="1350" spc="-12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02310</a:t>
            </a:r>
            <a:r>
              <a:rPr lang="en-US" altLang="zh-CN"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5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沈书灏 </a:t>
            </a:r>
            <a:r>
              <a:rPr sz="1350" spc="11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</a:t>
            </a:r>
            <a:r>
              <a:rPr sz="1350" spc="-12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4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023301</a:t>
            </a:r>
            <a:r>
              <a:rPr sz="1350" spc="-6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350" spc="-6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张凯轩</a:t>
            </a:r>
            <a:endParaRPr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023302</a:t>
            </a:r>
            <a:r>
              <a:rPr sz="1350" spc="-7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刘喆 </a:t>
            </a:r>
            <a:r>
              <a:rPr sz="1350" spc="11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</a:t>
            </a:r>
            <a:r>
              <a:rPr sz="1350" spc="-13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02331</a:t>
            </a:r>
            <a:r>
              <a:rPr lang="en-US" altLang="en-US" sz="1350" spc="-65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sz="1350" spc="-50" dirty="0">
                <a:solidFill>
                  <a:srgbClr val="CBD4E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汪睿涵</a:t>
            </a:r>
            <a:endParaRPr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476375"/>
            <a:ext cx="5333999" cy="4810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1476375"/>
            <a:ext cx="5333999" cy="4810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500" y="1928812"/>
            <a:ext cx="237082" cy="304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7500" y="1928812"/>
            <a:ext cx="237082" cy="3047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034758" y="1891919"/>
            <a:ext cx="22542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-10" dirty="0">
                <a:solidFill>
                  <a:schemeClr val="bg1"/>
                </a:solidFill>
                <a:latin typeface="Lantinghei SC Heavy"/>
                <a:cs typeface="Lantinghei SC Heavy"/>
              </a:rPr>
              <a:t>解决方案与量化收益</a:t>
            </a:r>
            <a:endParaRPr sz="1950">
              <a:solidFill>
                <a:schemeClr val="bg1"/>
              </a:solidFill>
              <a:latin typeface="Lantinghei SC Heavy"/>
              <a:cs typeface="Lantinghei SC Heav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5550" y="1891919"/>
            <a:ext cx="4311650" cy="277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</a:pPr>
            <a:r>
              <a:rPr sz="1950" b="1" spc="25" dirty="0">
                <a:solidFill>
                  <a:srgbClr val="1E293B"/>
                </a:solidFill>
                <a:latin typeface="Lantinghei SC Heavy"/>
                <a:cs typeface="Lantinghei SC Heavy"/>
              </a:rPr>
              <a:t>行业现状与协作痛点</a:t>
            </a:r>
            <a:endParaRPr sz="1950" dirty="0">
              <a:latin typeface="Lantinghei SC Heavy"/>
              <a:cs typeface="Lantinghei SC Heavy"/>
            </a:endParaRPr>
          </a:p>
          <a:p>
            <a:pPr marL="12700" marR="5080" algn="just">
              <a:lnSpc>
                <a:spcPct val="160000"/>
              </a:lnSpc>
              <a:spcBef>
                <a:spcPts val="2785"/>
              </a:spcBef>
            </a:pPr>
            <a:r>
              <a:rPr sz="135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⼯具割裂与信息碎⽚化：</a:t>
            </a: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当前团队的沟通⼯具与任务管理系统严重分离，导致任务流转状态更新滞后，增加了隐性</a:t>
            </a:r>
            <a:r>
              <a:rPr sz="135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跨平台沟通成本。</a:t>
            </a:r>
            <a:endParaRPr sz="1350" dirty="0">
              <a:latin typeface="PingFang SC Light"/>
              <a:cs typeface="PingFang SC Light"/>
            </a:endParaRPr>
          </a:p>
          <a:p>
            <a:pPr marL="12700" marR="5080">
              <a:lnSpc>
                <a:spcPct val="160000"/>
              </a:lnSpc>
              <a:spcBef>
                <a:spcPts val="955"/>
              </a:spcBef>
            </a:pPr>
            <a:r>
              <a:rPr sz="135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历史知识沉淀与检索困难：</a:t>
            </a: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传统云盘缺乏智能化解析。新成员接⼿项⽬时，查阅海量历史规范与业务⽂档的成本极</a:t>
            </a:r>
            <a:endParaRPr sz="1350" dirty="0">
              <a:latin typeface="PingFang SC Light"/>
              <a:cs typeface="PingFang SC Light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⾼，知识流转率低下。</a:t>
            </a:r>
            <a:endParaRPr sz="1350" dirty="0">
              <a:latin typeface="PingFang SC Light"/>
              <a:cs typeface="PingFang SC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0550" y="2666491"/>
            <a:ext cx="4298950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1"/>
                </a:solidFill>
                <a:latin typeface="Hiragino Sans GB W6"/>
                <a:cs typeface="Hiragino Sans GB W6"/>
              </a:rPr>
              <a:t>轻量极简协作闭环：</a:t>
            </a:r>
            <a:r>
              <a:rPr sz="1400" spc="-25" dirty="0">
                <a:solidFill>
                  <a:schemeClr val="bg1"/>
                </a:solidFill>
                <a:latin typeface="PingFang SC Light"/>
                <a:cs typeface="PingFang SC Light"/>
              </a:rPr>
              <a:t>⾼度集成任务看板、实时单/群聊</a:t>
            </a:r>
            <a:endParaRPr sz="1400" dirty="0">
              <a:solidFill>
                <a:schemeClr val="bg1"/>
              </a:solidFill>
              <a:latin typeface="PingFang SC Light"/>
              <a:cs typeface="PingFang SC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3250" y="2904744"/>
            <a:ext cx="4194810" cy="6502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815"/>
              </a:spcBef>
            </a:pPr>
            <a:r>
              <a:rPr lang="zh-CN" altLang="en-US"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⽂</a:t>
            </a:r>
            <a:r>
              <a:rPr sz="1350" spc="-1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件管理，消灭⼯具切换成本</a:t>
            </a:r>
            <a:r>
              <a:rPr lang="zh-CN" altLang="en-US"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，</a:t>
            </a:r>
            <a:r>
              <a:rPr sz="1350" spc="-1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预计可</a:t>
            </a:r>
            <a:r>
              <a:rPr lang="zh-CN" altLang="en-US"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提升 整体 执行效率 </a:t>
            </a:r>
            <a:r>
              <a:rPr lang="en-US" altLang="zh-CN"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sz="135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40550" y="4543591"/>
            <a:ext cx="4298950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70"/>
              </a:spcBef>
            </a:pPr>
            <a:r>
              <a:rPr sz="1400" spc="-15" dirty="0" err="1">
                <a:solidFill>
                  <a:schemeClr val="bg1"/>
                </a:solidFill>
                <a:latin typeface="PingFang SC Light"/>
                <a:cs typeface="PingFang SC Light"/>
              </a:rPr>
              <a:t>资产进⾏向量化，实现⾃然语⾔精准问答</a:t>
            </a:r>
            <a:r>
              <a:rPr lang="zh-CN" altLang="en-US" sz="1400" spc="-15" dirty="0">
                <a:solidFill>
                  <a:schemeClr val="bg1"/>
                </a:solidFill>
                <a:latin typeface="PingFang SC Light"/>
                <a:cs typeface="PingFang SC Light"/>
              </a:rPr>
              <a:t>，</a:t>
            </a:r>
            <a:r>
              <a:rPr sz="1400" spc="-15" dirty="0" err="1">
                <a:solidFill>
                  <a:schemeClr val="bg1"/>
                </a:solidFill>
                <a:latin typeface="PingFang SC Light"/>
                <a:cs typeface="PingFang SC Light"/>
              </a:rPr>
              <a:t>预计</a:t>
            </a:r>
            <a:r>
              <a:rPr lang="zh-CN" altLang="en-US" sz="1400" spc="-15" dirty="0">
                <a:solidFill>
                  <a:schemeClr val="bg1"/>
                </a:solidFill>
                <a:latin typeface="PingFang SC Light"/>
                <a:cs typeface="PingFang SC Light"/>
              </a:rPr>
              <a:t> </a:t>
            </a:r>
            <a:r>
              <a:rPr sz="1400" spc="-15" dirty="0" err="1">
                <a:solidFill>
                  <a:schemeClr val="bg1"/>
                </a:solidFill>
                <a:latin typeface="PingFang SC Light"/>
                <a:cs typeface="PingFang SC Light"/>
              </a:rPr>
              <a:t>可</a:t>
            </a:r>
            <a:r>
              <a:rPr lang="zh-CN" altLang="en-US" sz="1400" spc="-15" dirty="0">
                <a:solidFill>
                  <a:schemeClr val="bg1"/>
                </a:solidFill>
                <a:latin typeface="PingFang SC Light"/>
                <a:cs typeface="PingFang SC Light"/>
              </a:rPr>
              <a:t>降低文献检索时间 </a:t>
            </a:r>
            <a:r>
              <a:rPr lang="en-US" altLang="zh-CN" sz="140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sz="1400" spc="-15" dirty="0">
                <a:solidFill>
                  <a:schemeClr val="bg1"/>
                </a:solidFill>
                <a:latin typeface="PingFang SC Light"/>
                <a:cs typeface="PingFang SC Light"/>
              </a:rPr>
              <a:t>。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500" y="2719387"/>
            <a:ext cx="133497" cy="2000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500" y="3828007"/>
            <a:ext cx="133497" cy="2000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7500" y="2719387"/>
            <a:ext cx="133497" cy="2000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7500" y="4267200"/>
            <a:ext cx="133497" cy="20002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55600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latin typeface="Lantinghei SC Heavy"/>
                <a:cs typeface="Lantinghei SC Heavy"/>
              </a:rPr>
              <a:t>项目背景与核心价值 </a:t>
            </a:r>
            <a:r>
              <a:rPr spc="320" dirty="0"/>
              <a:t>(</a:t>
            </a:r>
            <a:r>
              <a:rPr spc="90" dirty="0">
                <a:latin typeface="Lantinghei SC Heavy"/>
                <a:cs typeface="Lantinghei SC Heavy"/>
              </a:rPr>
              <a:t>痛点突破</a:t>
            </a:r>
            <a:r>
              <a:rPr spc="270" dirty="0"/>
              <a:t>)</a:t>
            </a:r>
          </a:p>
        </p:txBody>
      </p:sp>
      <p:sp>
        <p:nvSpPr>
          <p:cNvPr id="18" name="object 18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文本框 19"/>
          <p:cNvSpPr txBox="1"/>
          <p:nvPr/>
        </p:nvSpPr>
        <p:spPr>
          <a:xfrm>
            <a:off x="6822262" y="4202263"/>
            <a:ext cx="4557759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400" b="1" spc="-45" dirty="0">
                <a:solidFill>
                  <a:schemeClr val="bg1"/>
                </a:solidFill>
                <a:latin typeface="Hiragino Sans GB W6"/>
                <a:cs typeface="Hiragino Sans GB W6"/>
              </a:rPr>
              <a:t>基于 </a:t>
            </a:r>
            <a:r>
              <a:rPr lang="en-GB" altLang="zh-CN" sz="1400" b="1" spc="-1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lang="en-GB" altLang="zh-CN" sz="1400" b="1" spc="-30" dirty="0">
                <a:solidFill>
                  <a:schemeClr val="bg1"/>
                </a:solidFill>
                <a:latin typeface="Hiragino Sans GB W6"/>
                <a:cs typeface="Hiragino Sans GB W6"/>
              </a:rPr>
              <a:t> </a:t>
            </a:r>
            <a:r>
              <a:rPr lang="zh-CN" altLang="en-US" sz="1400" b="1" spc="-30" dirty="0">
                <a:solidFill>
                  <a:schemeClr val="bg1"/>
                </a:solidFill>
                <a:latin typeface="Hiragino Sans GB W6"/>
                <a:cs typeface="Hiragino Sans GB W6"/>
              </a:rPr>
              <a:t>的智能知识库：</a:t>
            </a:r>
            <a:r>
              <a:rPr lang="zh-CN" altLang="en-US" sz="1400" spc="-5" dirty="0">
                <a:solidFill>
                  <a:schemeClr val="bg1"/>
                </a:solidFill>
                <a:latin typeface="PingFang SC Light"/>
                <a:cs typeface="PingFang SC Light"/>
              </a:rPr>
              <a:t>开创性引⼊⼤模型技术对团队</a:t>
            </a:r>
            <a:endParaRPr lang="zh-CN" altLang="en-US" sz="1400" dirty="0">
              <a:solidFill>
                <a:schemeClr val="bg1"/>
              </a:solidFill>
              <a:latin typeface="PingFang SC Light"/>
              <a:cs typeface="PingFang SC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ject 3"/>
          <p:cNvPicPr/>
          <p:nvPr>
            <p:custDataLst>
              <p:tags r:id="rId1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552036" y="1476375"/>
            <a:ext cx="3492548" cy="4865190"/>
          </a:xfrm>
          <a:prstGeom prst="rect">
            <a:avLst/>
          </a:prstGeom>
        </p:spPr>
      </p:pic>
      <p:pic>
        <p:nvPicPr>
          <p:cNvPr id="32" name="object 3"/>
          <p:cNvPicPr/>
          <p:nvPr>
            <p:custDataLst>
              <p:tags r:id="rId2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8140934" y="1476375"/>
            <a:ext cx="3492548" cy="4865190"/>
          </a:xfrm>
          <a:prstGeom prst="rect">
            <a:avLst/>
          </a:prstGeom>
        </p:spPr>
      </p:pic>
      <p:pic>
        <p:nvPicPr>
          <p:cNvPr id="3" name="object 3"/>
          <p:cNvPicPr/>
          <p:nvPr>
            <p:custDataLst>
              <p:tags r:id="rId3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4349798" y="1476375"/>
            <a:ext cx="3492548" cy="4865190"/>
          </a:xfrm>
          <a:prstGeom prst="rect">
            <a:avLst/>
          </a:prstGeom>
        </p:spPr>
      </p:pic>
      <p:grpSp>
        <p:nvGrpSpPr>
          <p:cNvPr id="5" name="object 5"/>
          <p:cNvGrpSpPr/>
          <p:nvPr>
            <p:custDataLst>
              <p:tags r:id="rId4"/>
            </p:custDataLst>
          </p:nvPr>
        </p:nvGrpSpPr>
        <p:grpSpPr>
          <a:xfrm>
            <a:off x="866775" y="1771650"/>
            <a:ext cx="666750" cy="666750"/>
            <a:chOff x="866775" y="1771650"/>
            <a:chExt cx="666750" cy="666750"/>
          </a:xfrm>
        </p:grpSpPr>
        <p:pic>
          <p:nvPicPr>
            <p:cNvPr id="6" name="object 6"/>
            <p:cNvPicPr/>
            <p:nvPr>
              <p:custDataLst>
                <p:tags r:id="rId27"/>
              </p:custDataLst>
            </p:nvPr>
          </p:nvPicPr>
          <p:blipFill>
            <a:blip r:embed="rId32" cstate="print"/>
            <a:stretch>
              <a:fillRect/>
            </a:stretch>
          </p:blipFill>
          <p:spPr>
            <a:xfrm>
              <a:off x="866775" y="1771650"/>
              <a:ext cx="666749" cy="6667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>
              <p:custDataLst>
                <p:tags r:id="rId28"/>
              </p:custDataLst>
            </p:nvPr>
          </p:nvPicPr>
          <p:blipFill>
            <a:blip r:embed="rId33" cstate="print"/>
            <a:stretch>
              <a:fillRect/>
            </a:stretch>
          </p:blipFill>
          <p:spPr>
            <a:xfrm>
              <a:off x="1051917" y="1914525"/>
              <a:ext cx="296464" cy="380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854075" y="2606294"/>
            <a:ext cx="2768600" cy="1369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35" dirty="0">
                <a:solidFill>
                  <a:srgbClr val="005088"/>
                </a:solidFill>
                <a:latin typeface="Lantinghei SC Heavy"/>
                <a:cs typeface="Lantinghei SC Heavy"/>
              </a:rPr>
              <a:t>核心技术栈部署</a:t>
            </a:r>
            <a:endParaRPr sz="1950" dirty="0">
              <a:latin typeface="Lantinghei SC Heavy"/>
              <a:cs typeface="Lantinghei SC Heavy"/>
            </a:endParaRPr>
          </a:p>
          <a:p>
            <a:pPr marL="12700" marR="5080" algn="just">
              <a:lnSpc>
                <a:spcPct val="160000"/>
              </a:lnSpc>
              <a:spcBef>
                <a:spcPts val="460"/>
              </a:spcBef>
            </a:pP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选⽤极具开源⽣态优势的现代架构，具有极⾼的⼯程落地可⾏性，规避校</a:t>
            </a:r>
            <a:r>
              <a:rPr sz="135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园⽹络延迟。</a:t>
            </a:r>
            <a:endParaRPr sz="1350" dirty="0">
              <a:latin typeface="PingFang SC Light"/>
              <a:cs typeface="PingFang SC Light"/>
            </a:endParaRPr>
          </a:p>
        </p:txBody>
      </p:sp>
      <p:sp>
        <p:nvSpPr>
          <p:cNvPr id="9" name="object 9"/>
          <p:cNvSpPr/>
          <p:nvPr>
            <p:custDataLst>
              <p:tags r:id="rId6"/>
            </p:custDataLst>
          </p:nvPr>
        </p:nvSpPr>
        <p:spPr>
          <a:xfrm>
            <a:off x="866775" y="4261394"/>
            <a:ext cx="2902585" cy="9525"/>
          </a:xfrm>
          <a:custGeom>
            <a:avLst/>
            <a:gdLst/>
            <a:ahLst/>
            <a:cxnLst/>
            <a:rect l="l" t="t" r="r" b="b"/>
            <a:pathLst>
              <a:path w="2902585" h="9525">
                <a:moveTo>
                  <a:pt x="2901998" y="9524"/>
                </a:moveTo>
                <a:lnTo>
                  <a:pt x="0" y="9524"/>
                </a:lnTo>
                <a:lnTo>
                  <a:pt x="0" y="0"/>
                </a:lnTo>
                <a:lnTo>
                  <a:pt x="2901998" y="0"/>
                </a:lnTo>
                <a:lnTo>
                  <a:pt x="2901998" y="9524"/>
                </a:lnTo>
                <a:close/>
              </a:path>
            </a:pathLst>
          </a:custGeom>
          <a:solidFill>
            <a:srgbClr val="CBD4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>
            <p:custDataLst>
              <p:tags r:id="rId7"/>
            </p:custDataLst>
          </p:nvPr>
        </p:nvGrpSpPr>
        <p:grpSpPr>
          <a:xfrm>
            <a:off x="4645073" y="1800225"/>
            <a:ext cx="666750" cy="666750"/>
            <a:chOff x="4645073" y="1800225"/>
            <a:chExt cx="666750" cy="666750"/>
          </a:xfrm>
        </p:grpSpPr>
        <p:pic>
          <p:nvPicPr>
            <p:cNvPr id="11" name="object 11"/>
            <p:cNvPicPr/>
            <p:nvPr>
              <p:custDataLst>
                <p:tags r:id="rId25"/>
              </p:custDataLst>
            </p:nvPr>
          </p:nvPicPr>
          <p:blipFill>
            <a:blip r:embed="rId34" cstate="print"/>
            <a:stretch>
              <a:fillRect/>
            </a:stretch>
          </p:blipFill>
          <p:spPr>
            <a:xfrm>
              <a:off x="4645073" y="1800225"/>
              <a:ext cx="666749" cy="6667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>
              <p:custDataLst>
                <p:tags r:id="rId26"/>
              </p:custDataLst>
            </p:nvPr>
          </p:nvPicPr>
          <p:blipFill>
            <a:blip r:embed="rId35" cstate="print"/>
            <a:stretch>
              <a:fillRect/>
            </a:stretch>
          </p:blipFill>
          <p:spPr>
            <a:xfrm>
              <a:off x="4830216" y="1943100"/>
              <a:ext cx="296464" cy="3809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>
            <p:custDataLst>
              <p:tags r:id="rId8"/>
            </p:custDataLst>
          </p:nvPr>
        </p:nvSpPr>
        <p:spPr>
          <a:xfrm>
            <a:off x="4632374" y="2634869"/>
            <a:ext cx="2863850" cy="103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b="1" spc="30" dirty="0" err="1">
                <a:solidFill>
                  <a:srgbClr val="005088"/>
                </a:solidFill>
                <a:latin typeface="Lantinghei SC Heavy"/>
                <a:cs typeface="Lantinghei SC Heavy"/>
              </a:rPr>
              <a:t>核心涵盖</a:t>
            </a:r>
            <a:r>
              <a:rPr sz="1950" b="1" spc="30" dirty="0">
                <a:solidFill>
                  <a:srgbClr val="005088"/>
                </a:solidFill>
                <a:latin typeface="Lantinghei SC Heavy"/>
                <a:cs typeface="Lantinghei SC Heavy"/>
              </a:rPr>
              <a:t> </a:t>
            </a:r>
            <a:endParaRPr sz="19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350" spc="40" dirty="0">
                <a:solidFill>
                  <a:srgbClr val="334155"/>
                </a:solidFill>
                <a:latin typeface="PingFang SC Light"/>
                <a:cs typeface="PingFang SC Light"/>
              </a:rPr>
              <a:t>遵循敏捷“保底+迭代”原则，确保核</a:t>
            </a:r>
            <a:endParaRPr sz="1350" dirty="0">
              <a:latin typeface="PingFang SC Light"/>
              <a:cs typeface="PingFang SC Light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350" spc="-30" dirty="0">
                <a:solidFill>
                  <a:srgbClr val="334155"/>
                </a:solidFill>
                <a:latin typeface="PingFang SC Light"/>
                <a:cs typeface="PingFang SC Light"/>
              </a:rPr>
              <a:t>⼼协作与 </a:t>
            </a:r>
            <a:r>
              <a:rPr sz="13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1350" spc="-30" dirty="0">
                <a:solidFill>
                  <a:srgbClr val="334155"/>
                </a:solidFill>
                <a:latin typeface="PingFang SC Light"/>
                <a:cs typeface="PingFang SC Light"/>
              </a:rPr>
              <a:t> 闭环的⾼质量交付。</a:t>
            </a:r>
            <a:endParaRPr sz="1350" dirty="0">
              <a:latin typeface="PingFang SC Light"/>
              <a:cs typeface="PingFang SC Light"/>
            </a:endParaRPr>
          </a:p>
        </p:txBody>
      </p:sp>
      <p:sp>
        <p:nvSpPr>
          <p:cNvPr id="14" name="object 14"/>
          <p:cNvSpPr/>
          <p:nvPr>
            <p:custDataLst>
              <p:tags r:id="rId9"/>
            </p:custDataLst>
          </p:nvPr>
        </p:nvSpPr>
        <p:spPr>
          <a:xfrm>
            <a:off x="4645073" y="4015680"/>
            <a:ext cx="2902585" cy="9525"/>
          </a:xfrm>
          <a:custGeom>
            <a:avLst/>
            <a:gdLst/>
            <a:ahLst/>
            <a:cxnLst/>
            <a:rect l="l" t="t" r="r" b="b"/>
            <a:pathLst>
              <a:path w="2902584" h="9525">
                <a:moveTo>
                  <a:pt x="2901998" y="9524"/>
                </a:moveTo>
                <a:lnTo>
                  <a:pt x="0" y="9524"/>
                </a:lnTo>
                <a:lnTo>
                  <a:pt x="0" y="0"/>
                </a:lnTo>
                <a:lnTo>
                  <a:pt x="2901998" y="0"/>
                </a:lnTo>
                <a:lnTo>
                  <a:pt x="2901998" y="9524"/>
                </a:lnTo>
                <a:close/>
              </a:path>
            </a:pathLst>
          </a:custGeom>
          <a:solidFill>
            <a:srgbClr val="CBD4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>
            <p:custDataLst>
              <p:tags r:id="rId10"/>
            </p:custDataLst>
          </p:nvPr>
        </p:nvGrpSpPr>
        <p:grpSpPr>
          <a:xfrm>
            <a:off x="8440858" y="1771650"/>
            <a:ext cx="666750" cy="666750"/>
            <a:chOff x="8423374" y="1800225"/>
            <a:chExt cx="666750" cy="666750"/>
          </a:xfrm>
        </p:grpSpPr>
        <p:pic>
          <p:nvPicPr>
            <p:cNvPr id="16" name="object 16"/>
            <p:cNvPicPr/>
            <p:nvPr>
              <p:custDataLst>
                <p:tags r:id="rId23"/>
              </p:custDataLst>
            </p:nvPr>
          </p:nvPicPr>
          <p:blipFill>
            <a:blip r:embed="rId36" cstate="print"/>
            <a:stretch>
              <a:fillRect/>
            </a:stretch>
          </p:blipFill>
          <p:spPr>
            <a:xfrm>
              <a:off x="8423374" y="1800225"/>
              <a:ext cx="666749" cy="6667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>
              <p:custDataLst>
                <p:tags r:id="rId24"/>
              </p:custDataLst>
            </p:nvPr>
          </p:nvPicPr>
          <p:blipFill>
            <a:blip r:embed="rId37" cstate="print"/>
            <a:stretch>
              <a:fillRect/>
            </a:stretch>
          </p:blipFill>
          <p:spPr>
            <a:xfrm>
              <a:off x="8608515" y="1943100"/>
              <a:ext cx="296465" cy="3809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>
            <p:custDataLst>
              <p:tags r:id="rId11"/>
            </p:custDataLst>
          </p:nvPr>
        </p:nvSpPr>
        <p:spPr>
          <a:xfrm>
            <a:off x="8410674" y="2634869"/>
            <a:ext cx="2768600" cy="104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950" b="1" spc="35" dirty="0">
                <a:solidFill>
                  <a:srgbClr val="475568"/>
                </a:solidFill>
                <a:latin typeface="Lantinghei SC Heavy"/>
                <a:cs typeface="Lantinghei SC Heavy"/>
              </a:rPr>
              <a:t>核心区分</a:t>
            </a:r>
            <a:endParaRPr lang="en-GB" sz="19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60000"/>
              </a:lnSpc>
              <a:spcBef>
                <a:spcPts val="460"/>
              </a:spcBef>
            </a:pPr>
            <a:r>
              <a:rPr lang="zh-CN" altLang="en-US"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排除企业级冗余模块，确保⼩团队能在短周期内完成核⼼验证。</a:t>
            </a:r>
            <a:endParaRPr lang="zh-CN" altLang="en-US" sz="1350" dirty="0">
              <a:latin typeface="PingFang SC Light"/>
              <a:cs typeface="PingFang SC Light"/>
            </a:endParaRPr>
          </a:p>
        </p:txBody>
      </p:sp>
      <p:sp>
        <p:nvSpPr>
          <p:cNvPr id="19" name="object 19"/>
          <p:cNvSpPr/>
          <p:nvPr>
            <p:custDataLst>
              <p:tags r:id="rId12"/>
            </p:custDataLst>
          </p:nvPr>
        </p:nvSpPr>
        <p:spPr>
          <a:xfrm>
            <a:off x="8423374" y="4015680"/>
            <a:ext cx="2902585" cy="9525"/>
          </a:xfrm>
          <a:custGeom>
            <a:avLst/>
            <a:gdLst/>
            <a:ahLst/>
            <a:cxnLst/>
            <a:rect l="l" t="t" r="r" b="b"/>
            <a:pathLst>
              <a:path w="2902584" h="9525">
                <a:moveTo>
                  <a:pt x="2901998" y="9524"/>
                </a:moveTo>
                <a:lnTo>
                  <a:pt x="0" y="9524"/>
                </a:lnTo>
                <a:lnTo>
                  <a:pt x="0" y="0"/>
                </a:lnTo>
                <a:lnTo>
                  <a:pt x="2901998" y="0"/>
                </a:lnTo>
                <a:lnTo>
                  <a:pt x="2901998" y="9524"/>
                </a:lnTo>
                <a:close/>
              </a:path>
            </a:pathLst>
          </a:custGeom>
          <a:solidFill>
            <a:srgbClr val="CBD4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>
            <p:custDataLst>
              <p:tags r:id="rId13"/>
            </p:custDataLst>
          </p:nvPr>
        </p:nvSpPr>
        <p:spPr>
          <a:xfrm>
            <a:off x="854075" y="4373312"/>
            <a:ext cx="2515235" cy="11195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0" indent="-209550">
              <a:lnSpc>
                <a:spcPct val="100000"/>
              </a:lnSpc>
              <a:spcBef>
                <a:spcPts val="640"/>
              </a:spcBef>
              <a:buChar char="·"/>
              <a:tabLst>
                <a:tab pos="222250" algn="l"/>
              </a:tabLst>
            </a:pPr>
            <a:r>
              <a:rPr sz="1350" spc="-30" dirty="0">
                <a:solidFill>
                  <a:srgbClr val="334155"/>
                </a:solidFill>
                <a:latin typeface="PingFang SC Light"/>
                <a:cs typeface="PingFang SC Light"/>
              </a:rPr>
              <a:t>前端：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</a:t>
            </a:r>
            <a:r>
              <a:rPr sz="1350" spc="-8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spc="-6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350" spc="-7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sz="13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sz="1350" spc="-7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2250" indent="-209550">
              <a:lnSpc>
                <a:spcPct val="100000"/>
              </a:lnSpc>
              <a:spcBef>
                <a:spcPts val="540"/>
              </a:spcBef>
              <a:buChar char="·"/>
              <a:tabLst>
                <a:tab pos="222250" algn="l"/>
              </a:tabLst>
            </a:pPr>
            <a:r>
              <a:rPr sz="13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后端：Node.js</a:t>
            </a:r>
            <a:r>
              <a:rPr sz="1350" spc="-6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Express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2250" indent="-209550">
              <a:lnSpc>
                <a:spcPct val="100000"/>
              </a:lnSpc>
              <a:spcBef>
                <a:spcPts val="540"/>
              </a:spcBef>
              <a:buChar char="·"/>
              <a:tabLst>
                <a:tab pos="222250" algn="l"/>
              </a:tabLst>
            </a:pPr>
            <a:r>
              <a:rPr sz="1350" spc="-3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</a:t>
            </a:r>
            <a:r>
              <a:rPr sz="1350" spc="-2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：MySQL</a:t>
            </a:r>
            <a:r>
              <a:rPr sz="1350" spc="-13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spc="-4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8.0</a:t>
            </a:r>
            <a:r>
              <a:rPr sz="1350" spc="-1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Prisma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2250" indent="-209550">
              <a:lnSpc>
                <a:spcPct val="100000"/>
              </a:lnSpc>
              <a:spcBef>
                <a:spcPts val="540"/>
              </a:spcBef>
              <a:buChar char="·"/>
              <a:tabLst>
                <a:tab pos="222250" algn="l"/>
              </a:tabLst>
            </a:pPr>
            <a:r>
              <a:rPr sz="13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引擎：Socket.io</a:t>
            </a:r>
            <a:r>
              <a:rPr sz="1350" spc="-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 txBox="1"/>
          <p:nvPr>
            <p:custDataLst>
              <p:tags r:id="rId14"/>
            </p:custDataLst>
          </p:nvPr>
        </p:nvSpPr>
        <p:spPr>
          <a:xfrm>
            <a:off x="4918124" y="4348546"/>
            <a:ext cx="2195830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任务看板流转与状态追踪</a:t>
            </a:r>
            <a:endParaRPr sz="1350">
              <a:latin typeface="PingFang SC Light"/>
              <a:cs typeface="PingFang SC Light"/>
            </a:endParaRPr>
          </a:p>
          <a:p>
            <a:pPr marL="12700" marR="5080">
              <a:lnSpc>
                <a:spcPct val="203000"/>
              </a:lnSpc>
            </a:pPr>
            <a:r>
              <a:rPr sz="1350" spc="-50" dirty="0">
                <a:solidFill>
                  <a:srgbClr val="334155"/>
                </a:solidFill>
                <a:latin typeface="PingFang SC Light"/>
                <a:cs typeface="PingFang SC Light"/>
              </a:rPr>
              <a:t>基于 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r>
              <a:rPr sz="1350" spc="-40" dirty="0">
                <a:solidFill>
                  <a:srgbClr val="334155"/>
                </a:solidFill>
                <a:latin typeface="PingFang SC Light"/>
                <a:cs typeface="PingFang SC Light"/>
              </a:rPr>
              <a:t> 的实时消息</a:t>
            </a: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本地上传⽂档集中管理</a:t>
            </a:r>
            <a:endParaRPr sz="1350">
              <a:latin typeface="PingFang SC Light"/>
              <a:cs typeface="PingFang SC Light"/>
            </a:endParaRP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1350" spc="-7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sz="1350" spc="-35" dirty="0">
                <a:solidFill>
                  <a:srgbClr val="334155"/>
                </a:solidFill>
                <a:latin typeface="PingFang SC Light"/>
                <a:cs typeface="PingFang SC Light"/>
              </a:rPr>
              <a:t> 向量化智能问答助⼿</a:t>
            </a:r>
            <a:endParaRPr sz="1350">
              <a:latin typeface="PingFang SC Light"/>
              <a:cs typeface="PingFang SC Light"/>
            </a:endParaRPr>
          </a:p>
        </p:txBody>
      </p:sp>
      <p:sp>
        <p:nvSpPr>
          <p:cNvPr id="22" name="object 22"/>
          <p:cNvSpPr txBox="1"/>
          <p:nvPr>
            <p:custDataLst>
              <p:tags r:id="rId15"/>
            </p:custDataLst>
          </p:nvPr>
        </p:nvSpPr>
        <p:spPr>
          <a:xfrm>
            <a:off x="8696424" y="4348546"/>
            <a:ext cx="225425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企业级复杂权限颗粒度细分</a:t>
            </a:r>
            <a:endParaRPr sz="1350" dirty="0">
              <a:latin typeface="PingFang SC Light"/>
              <a:cs typeface="PingFang SC Light"/>
            </a:endParaRPr>
          </a:p>
          <a:p>
            <a:pPr marL="12700" marR="5080">
              <a:lnSpc>
                <a:spcPct val="203000"/>
              </a:lnSpc>
            </a:pP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全局动作⾏为⽇志审计体系</a:t>
            </a:r>
            <a:r>
              <a:rPr sz="1350" spc="-50" dirty="0">
                <a:solidFill>
                  <a:srgbClr val="334155"/>
                </a:solidFill>
                <a:latin typeface="PingFang SC Light"/>
                <a:cs typeface="PingFang SC Light"/>
              </a:rPr>
              <a:t> </a:t>
            </a: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第三⽅外部办公应⽤深度集成</a:t>
            </a:r>
            <a:endParaRPr sz="1350" dirty="0">
              <a:latin typeface="PingFang SC Light"/>
              <a:cs typeface="PingFang SC Light"/>
            </a:endParaRPr>
          </a:p>
        </p:txBody>
      </p:sp>
      <p:pic>
        <p:nvPicPr>
          <p:cNvPr id="23" name="object 23"/>
          <p:cNvPicPr/>
          <p:nvPr>
            <p:custDataLst>
              <p:tags r:id="rId16"/>
            </p:custDataLst>
          </p:nvPr>
        </p:nvPicPr>
        <p:blipFill>
          <a:blip r:embed="rId38" cstate="print"/>
          <a:stretch>
            <a:fillRect/>
          </a:stretch>
        </p:blipFill>
        <p:spPr>
          <a:xfrm>
            <a:off x="4645073" y="4343400"/>
            <a:ext cx="133498" cy="200024"/>
          </a:xfrm>
          <a:prstGeom prst="rect">
            <a:avLst/>
          </a:prstGeom>
        </p:spPr>
      </p:pic>
      <p:pic>
        <p:nvPicPr>
          <p:cNvPr id="24" name="object 24"/>
          <p:cNvPicPr/>
          <p:nvPr>
            <p:custDataLst>
              <p:tags r:id="rId17"/>
            </p:custDataLst>
          </p:nvPr>
        </p:nvPicPr>
        <p:blipFill>
          <a:blip r:embed="rId38" cstate="print"/>
          <a:stretch>
            <a:fillRect/>
          </a:stretch>
        </p:blipFill>
        <p:spPr>
          <a:xfrm>
            <a:off x="4645073" y="4800600"/>
            <a:ext cx="133498" cy="200024"/>
          </a:xfrm>
          <a:prstGeom prst="rect">
            <a:avLst/>
          </a:prstGeom>
        </p:spPr>
      </p:pic>
      <p:pic>
        <p:nvPicPr>
          <p:cNvPr id="25" name="object 25"/>
          <p:cNvPicPr/>
          <p:nvPr>
            <p:custDataLst>
              <p:tags r:id="rId18"/>
            </p:custDataLst>
          </p:nvPr>
        </p:nvPicPr>
        <p:blipFill>
          <a:blip r:embed="rId38" cstate="print"/>
          <a:stretch>
            <a:fillRect/>
          </a:stretch>
        </p:blipFill>
        <p:spPr>
          <a:xfrm>
            <a:off x="4645073" y="5181600"/>
            <a:ext cx="133498" cy="200024"/>
          </a:xfrm>
          <a:prstGeom prst="rect">
            <a:avLst/>
          </a:prstGeom>
        </p:spPr>
      </p:pic>
      <p:pic>
        <p:nvPicPr>
          <p:cNvPr id="26" name="object 26"/>
          <p:cNvPicPr/>
          <p:nvPr>
            <p:custDataLst>
              <p:tags r:id="rId19"/>
            </p:custDataLst>
          </p:nvPr>
        </p:nvPicPr>
        <p:blipFill>
          <a:blip r:embed="rId38" cstate="print"/>
          <a:stretch>
            <a:fillRect/>
          </a:stretch>
        </p:blipFill>
        <p:spPr>
          <a:xfrm>
            <a:off x="4645073" y="5638800"/>
            <a:ext cx="133498" cy="200024"/>
          </a:xfrm>
          <a:prstGeom prst="rect">
            <a:avLst/>
          </a:prstGeom>
        </p:spPr>
      </p:pic>
      <p:pic>
        <p:nvPicPr>
          <p:cNvPr id="27" name="object 27"/>
          <p:cNvPicPr/>
          <p:nvPr>
            <p:custDataLst>
              <p:tags r:id="rId20"/>
            </p:custDataLst>
          </p:nvPr>
        </p:nvPicPr>
        <p:blipFill>
          <a:blip r:embed="rId39" cstate="print"/>
          <a:stretch>
            <a:fillRect/>
          </a:stretch>
        </p:blipFill>
        <p:spPr>
          <a:xfrm>
            <a:off x="8423374" y="4343400"/>
            <a:ext cx="133497" cy="200024"/>
          </a:xfrm>
          <a:prstGeom prst="rect">
            <a:avLst/>
          </a:prstGeom>
        </p:spPr>
      </p:pic>
      <p:pic>
        <p:nvPicPr>
          <p:cNvPr id="28" name="object 28"/>
          <p:cNvPicPr/>
          <p:nvPr>
            <p:custDataLst>
              <p:tags r:id="rId21"/>
            </p:custDataLst>
          </p:nvPr>
        </p:nvPicPr>
        <p:blipFill>
          <a:blip r:embed="rId39" cstate="print"/>
          <a:stretch>
            <a:fillRect/>
          </a:stretch>
        </p:blipFill>
        <p:spPr>
          <a:xfrm>
            <a:off x="8423374" y="4724400"/>
            <a:ext cx="133497" cy="200024"/>
          </a:xfrm>
          <a:prstGeom prst="rect">
            <a:avLst/>
          </a:prstGeom>
        </p:spPr>
      </p:pic>
      <p:pic>
        <p:nvPicPr>
          <p:cNvPr id="29" name="object 29"/>
          <p:cNvPicPr/>
          <p:nvPr>
            <p:custDataLst>
              <p:tags r:id="rId22"/>
            </p:custDataLst>
          </p:nvPr>
        </p:nvPicPr>
        <p:blipFill>
          <a:blip r:embed="rId39" cstate="print"/>
          <a:stretch>
            <a:fillRect/>
          </a:stretch>
        </p:blipFill>
        <p:spPr>
          <a:xfrm>
            <a:off x="8423374" y="5181600"/>
            <a:ext cx="133497" cy="200024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>
                <a:latin typeface="Lantinghei SC Heavy"/>
                <a:cs typeface="Lantinghei SC Heavy"/>
              </a:rPr>
              <a:t>技术可行性与业务范围框图</a:t>
            </a:r>
          </a:p>
        </p:txBody>
      </p:sp>
      <p:sp>
        <p:nvSpPr>
          <p:cNvPr id="31" name="object 31"/>
          <p:cNvSpPr/>
          <p:nvPr/>
        </p:nvSpPr>
        <p:spPr>
          <a:xfrm>
            <a:off x="571500" y="11430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476375"/>
            <a:ext cx="3492548" cy="4810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798" y="1476375"/>
            <a:ext cx="3492548" cy="4810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000" y="1476375"/>
            <a:ext cx="3816985" cy="48101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66775" y="1771650"/>
            <a:ext cx="666750" cy="666750"/>
            <a:chOff x="866775" y="1771650"/>
            <a:chExt cx="666750" cy="6667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775" y="1771650"/>
              <a:ext cx="666749" cy="6667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917" y="1914525"/>
              <a:ext cx="296464" cy="380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075" y="3139440"/>
            <a:ext cx="2974340" cy="237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770" algn="l" rtl="0" eaLnBrk="1" fontAlgn="auto" latinLnBrk="0" hangingPunct="1">
              <a:lnSpc>
                <a:spcPct val="160000"/>
              </a:lnSpc>
              <a:spcBef>
                <a:spcPts val="315"/>
              </a:spcBef>
              <a:buClrTx/>
              <a:buSzTx/>
              <a:buFontTx/>
              <a:buNone/>
            </a:pP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核⼼诉求：关注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Team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(团队空间)- 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Project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(项目集)- 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Task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(任务原子)的切换是否顺畅。核心痛点</a:t>
            </a:r>
            <a:r>
              <a:rPr kumimoji="0" lang="zh-CN" altLang="en-US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在于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“不想翻文件”，所以需要 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AI</a:t>
            </a: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助手直接从文件池里给答案（方便使用项目）。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645073" y="1771650"/>
            <a:ext cx="666750" cy="666750"/>
            <a:chOff x="4645073" y="1771650"/>
            <a:chExt cx="666750" cy="66675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073" y="1771650"/>
              <a:ext cx="666749" cy="6667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0216" y="1914525"/>
              <a:ext cx="296464" cy="3809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63489" y="3135249"/>
            <a:ext cx="2828925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770">
              <a:lnSpc>
                <a:spcPct val="160000"/>
              </a:lnSpc>
              <a:spcBef>
                <a:spcPts val="315"/>
              </a:spcBef>
            </a:pPr>
            <a:r>
              <a:rPr sz="1600" b="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核⼼诉求：关注 RBAC 模型是否严密，能否防止成员越权查看其他 </a:t>
            </a:r>
            <a:r>
              <a:rPr sz="1600" b="0" dirty="0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Project</a:t>
            </a:r>
            <a:r>
              <a:rPr sz="1600" b="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。关注系统是否能通过 </a:t>
            </a:r>
            <a:r>
              <a:rPr sz="1600" b="0" dirty="0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AI</a:t>
            </a:r>
            <a:r>
              <a:rPr sz="1600" b="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自动生成“站会简报”来监控进度。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8270974" y="1771650"/>
            <a:ext cx="666750" cy="666750"/>
            <a:chOff x="8423374" y="1771650"/>
            <a:chExt cx="666750" cy="66675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3374" y="1771650"/>
              <a:ext cx="666749" cy="6667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08515" y="1914525"/>
              <a:ext cx="296465" cy="3809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458299" y="3139694"/>
            <a:ext cx="292608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2235">
              <a:lnSpc>
                <a:spcPct val="160000"/>
              </a:lnSpc>
              <a:spcBef>
                <a:spcPts val="315"/>
              </a:spcBef>
            </a:pPr>
            <a:r>
              <a:rPr kumimoji="0" sz="1600" b="0" i="0" u="none" strike="noStrike" kern="0" cap="none" spc="0" normalizeH="0" baseline="0" noProof="1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核⼼诉求</a:t>
            </a:r>
            <a:r>
              <a:rPr sz="1600" b="1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60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关注 </a:t>
            </a:r>
            <a:r>
              <a:rPr sz="1600" dirty="0">
                <a:solidFill>
                  <a:srgbClr val="334155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RAG</a:t>
            </a:r>
            <a:r>
              <a:rPr sz="160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技术的工程化实现、三层架构的数据一致性、以及敏捷开发文档的完整度</a:t>
            </a:r>
            <a:r>
              <a:rPr lang="zh-CN" altLang="en-US" sz="1600" dirty="0">
                <a:solidFill>
                  <a:srgbClr val="3341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，以便于开源社区成员的持续集成与二次开发。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5168900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latin typeface="Lantinghei SC Heavy"/>
                <a:cs typeface="Lantinghei SC Heavy"/>
              </a:rPr>
              <a:t>利益相关者画像</a:t>
            </a:r>
          </a:p>
        </p:txBody>
      </p:sp>
      <p:sp>
        <p:nvSpPr>
          <p:cNvPr id="18" name="object 18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文本框 18"/>
          <p:cNvSpPr txBox="1"/>
          <p:nvPr/>
        </p:nvSpPr>
        <p:spPr>
          <a:xfrm>
            <a:off x="1676400" y="1927225"/>
            <a:ext cx="232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25" dirty="0">
                <a:solidFill>
                  <a:srgbClr val="005088"/>
                </a:solidFill>
                <a:latin typeface="Lantinghei SC Heavy"/>
                <a:cs typeface="Lantinghei SC Heavy"/>
                <a:sym typeface="+mn-ea"/>
              </a:rPr>
              <a:t>核心用户 </a:t>
            </a:r>
            <a:r>
              <a:rPr sz="1800" b="1" spc="95" dirty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(Users)</a:t>
            </a:r>
            <a:endParaRPr lang="zh-CN" altLang="en-US" sz="1800"/>
          </a:p>
        </p:txBody>
      </p:sp>
      <p:sp>
        <p:nvSpPr>
          <p:cNvPr id="21" name="文本框 20"/>
          <p:cNvSpPr txBox="1"/>
          <p:nvPr/>
        </p:nvSpPr>
        <p:spPr>
          <a:xfrm>
            <a:off x="5466715" y="1920240"/>
            <a:ext cx="2321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25" dirty="0">
                <a:solidFill>
                  <a:srgbClr val="005088"/>
                </a:solidFill>
                <a:latin typeface="Lantinghei SC Heavy"/>
                <a:cs typeface="Lantinghei SC Heavy"/>
                <a:sym typeface="+mn-ea"/>
              </a:rPr>
              <a:t>客户代表 </a:t>
            </a:r>
            <a:r>
              <a:rPr sz="1800" b="1" spc="75" dirty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(Clients)</a:t>
            </a:r>
            <a:endParaRPr lang="zh-CN" altLang="en-US" sz="1800"/>
          </a:p>
        </p:txBody>
      </p:sp>
      <p:sp>
        <p:nvSpPr>
          <p:cNvPr id="22" name="文本框 21"/>
          <p:cNvSpPr txBox="1"/>
          <p:nvPr/>
        </p:nvSpPr>
        <p:spPr>
          <a:xfrm>
            <a:off x="8937625" y="1905000"/>
            <a:ext cx="3061335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900" b="1" spc="20" dirty="0">
                <a:solidFill>
                  <a:srgbClr val="005088"/>
                </a:solidFill>
                <a:latin typeface="Lantinghei SC Heavy"/>
                <a:cs typeface="Lantinghei SC Heavy"/>
                <a:sym typeface="+mn-ea"/>
              </a:rPr>
              <a:t>委托方 </a:t>
            </a:r>
            <a:r>
              <a:rPr sz="1900" b="1" spc="130" dirty="0">
                <a:solidFill>
                  <a:srgbClr val="005088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(Commissioners)</a:t>
            </a:r>
            <a:endParaRPr lang="zh-CN" altLang="en-US" sz="1900"/>
          </a:p>
        </p:txBody>
      </p:sp>
      <p:sp>
        <p:nvSpPr>
          <p:cNvPr id="23" name="文本框 22"/>
          <p:cNvSpPr txBox="1"/>
          <p:nvPr/>
        </p:nvSpPr>
        <p:spPr>
          <a:xfrm>
            <a:off x="800100" y="2498725"/>
            <a:ext cx="40640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1435"/>
              </a:spcBef>
            </a:pPr>
            <a:r>
              <a:rPr sz="1700" b="1" spc="-50" dirty="0">
                <a:solidFill>
                  <a:srgbClr val="11CAA0"/>
                </a:solidFill>
                <a:latin typeface="Hiragino Sans GB W6"/>
                <a:cs typeface="Hiragino Sans GB W6"/>
                <a:sym typeface="+mn-ea"/>
              </a:rPr>
              <a:t>⼩微团队成员 / 远程开发者</a:t>
            </a:r>
            <a:endParaRPr lang="zh-CN" altLang="en-US" sz="1700"/>
          </a:p>
        </p:txBody>
      </p:sp>
      <p:sp>
        <p:nvSpPr>
          <p:cNvPr id="24" name="文本框 23"/>
          <p:cNvSpPr txBox="1"/>
          <p:nvPr/>
        </p:nvSpPr>
        <p:spPr>
          <a:xfrm>
            <a:off x="4572000" y="2498725"/>
            <a:ext cx="3142615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1435"/>
              </a:spcBef>
            </a:pPr>
            <a:r>
              <a:rPr sz="1700" b="1" spc="-50" dirty="0">
                <a:solidFill>
                  <a:srgbClr val="F49E0B"/>
                </a:solidFill>
                <a:latin typeface="Hiragino Sans GB W6"/>
                <a:cs typeface="Hiragino Sans GB W6"/>
                <a:sym typeface="+mn-ea"/>
              </a:rPr>
              <a:t>团队管理者 / 项⽬经理</a:t>
            </a:r>
            <a:endParaRPr lang="zh-CN" altLang="en-US" sz="1700"/>
          </a:p>
        </p:txBody>
      </p:sp>
      <p:sp>
        <p:nvSpPr>
          <p:cNvPr id="20" name="文本框 19"/>
          <p:cNvSpPr txBox="1"/>
          <p:nvPr/>
        </p:nvSpPr>
        <p:spPr>
          <a:xfrm>
            <a:off x="8456295" y="2498725"/>
            <a:ext cx="40640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sz="1700" b="1" i="0" u="none" strike="noStrike" kern="0" cap="none" spc="-50" normalizeH="0" baseline="0" noProof="1">
                <a:solidFill>
                  <a:schemeClr val="tx2">
                    <a:lumMod val="40000"/>
                    <a:lumOff val="60000"/>
                  </a:schemeClr>
                </a:solidFill>
                <a:latin typeface="Hiragino Sans GB W6"/>
                <a:ea typeface="Arial" panose="020B0604020202020204" pitchFamily="34" charset="0"/>
                <a:cs typeface="Hiragino Sans GB W6"/>
              </a:rPr>
              <a:t>教授/助教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4728845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pc="65" dirty="0">
                <a:latin typeface="Lantinghei SC Heavy"/>
                <a:cs typeface="Lantinghei SC Heavy"/>
              </a:rPr>
              <a:t>需求识别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609600"/>
            <a:ext cx="4808868" cy="5760000"/>
          </a:xfrm>
          <a:prstGeom prst="rect">
            <a:avLst/>
          </a:prstGeom>
        </p:spPr>
      </p:pic>
      <p:pic>
        <p:nvPicPr>
          <p:cNvPr id="6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219200"/>
            <a:ext cx="4125595" cy="48101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600200" y="1600200"/>
            <a:ext cx="3766185" cy="4006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本项目的需求源于对研发协作中“信息碎片化”痛点的深度对冲。我们发现，飞书等通用平台虽功能全面，但在研发场景下</a:t>
            </a:r>
            <a:r>
              <a:rPr kumimoji="0" lang="zh-CN" altLang="en-US" sz="1800" b="0" i="0" u="none" strike="noStrike" kern="0" cap="none" spc="0" normalizeH="0" baseline="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存在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“信噪比低、回溯难、配置重”的问题。本系统并非复刻其行政功能，而是识别出“语义化知识唤醒”这一核心诉求：利用 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Socket.io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确保进度实时同步，通过 RAG 将零散消息与文档转化为可精准检索的“第二大脑”，并结合RBAC严守项目安全边界。我们旨在打造一个专为研发设计的极简底座，将开发者从“爬楼找信息”的低效劳动中解放出来。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9200"/>
            <a:ext cx="10086975" cy="477964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4728845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65" dirty="0">
                <a:latin typeface="Lantinghei SC Heavy"/>
                <a:cs typeface="Lantinghei SC Heavy"/>
              </a:rPr>
              <a:t>需求定义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>
            <p:custDataLst>
              <p:tags r:id="rId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571500" y="1476375"/>
            <a:ext cx="5333999" cy="4810124"/>
          </a:xfrm>
          <a:prstGeom prst="rect">
            <a:avLst/>
          </a:prstGeom>
        </p:spPr>
      </p:pic>
      <p:pic>
        <p:nvPicPr>
          <p:cNvPr id="3" name="object 3"/>
          <p:cNvPicPr/>
          <p:nvPr>
            <p:custDataLst>
              <p:tags r:id="rId2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6400800" y="1447800"/>
            <a:ext cx="5333999" cy="48101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5121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50" dirty="0">
                <a:latin typeface="Lantinghei SC Heavy"/>
                <a:cs typeface="Lantinghei SC Heavy"/>
              </a:rPr>
              <a:t>多种画像场景</a:t>
            </a:r>
            <a:endParaRPr spc="70" dirty="0">
              <a:latin typeface="Lantinghei SC Heavy"/>
              <a:cs typeface="Lantinghei SC Heavy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图形 12" descr="管理 轮廓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71157" y="1529914"/>
            <a:ext cx="914400" cy="914400"/>
          </a:xfrm>
          <a:prstGeom prst="rect">
            <a:avLst/>
          </a:prstGeom>
        </p:spPr>
      </p:pic>
      <p:sp>
        <p:nvSpPr>
          <p:cNvPr id="17" name="object 6"/>
          <p:cNvSpPr txBox="1"/>
          <p:nvPr>
            <p:custDataLst>
              <p:tags r:id="rId4"/>
            </p:custDataLst>
          </p:nvPr>
        </p:nvSpPr>
        <p:spPr>
          <a:xfrm>
            <a:off x="3217545" y="1592580"/>
            <a:ext cx="18967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Leader</a:t>
            </a:r>
            <a:endParaRPr sz="2000" dirty="0">
              <a:latin typeface="PingFang SC Light"/>
              <a:cs typeface="PingFang SC Light"/>
            </a:endParaRPr>
          </a:p>
        </p:txBody>
      </p:sp>
      <p:sp>
        <p:nvSpPr>
          <p:cNvPr id="20" name="object 6"/>
          <p:cNvSpPr txBox="1"/>
          <p:nvPr>
            <p:custDataLst>
              <p:tags r:id="rId5"/>
            </p:custDataLst>
          </p:nvPr>
        </p:nvSpPr>
        <p:spPr>
          <a:xfrm>
            <a:off x="8865968" y="1543403"/>
            <a:ext cx="176212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spc="-75" dirty="0">
                <a:solidFill>
                  <a:schemeClr val="accent6">
                    <a:lumMod val="75000"/>
                  </a:schemeClr>
                </a:solidFill>
                <a:latin typeface="Lantinghei SC Heavy"/>
                <a:cs typeface="Lantinghei SC Heavy"/>
              </a:rPr>
              <a:t>Member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PingFang SC Light"/>
              <a:cs typeface="PingFang SC Light"/>
            </a:endParaRPr>
          </a:p>
        </p:txBody>
      </p:sp>
      <p:sp>
        <p:nvSpPr>
          <p:cNvPr id="21" name="object 6"/>
          <p:cNvSpPr txBox="1"/>
          <p:nvPr>
            <p:custDataLst>
              <p:tags r:id="rId6"/>
            </p:custDataLst>
          </p:nvPr>
        </p:nvSpPr>
        <p:spPr>
          <a:xfrm>
            <a:off x="749935" y="1777365"/>
            <a:ext cx="134366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60000"/>
              </a:lnSpc>
              <a:spcBef>
                <a:spcPts val="300"/>
              </a:spcBef>
            </a:pPr>
            <a:r>
              <a:rPr lang="en-US" sz="200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Example:</a:t>
            </a:r>
            <a:endParaRPr sz="2000" dirty="0">
              <a:latin typeface="PingFang SC Light"/>
              <a:cs typeface="PingFang SC Light"/>
            </a:endParaRPr>
          </a:p>
        </p:txBody>
      </p:sp>
      <p:sp>
        <p:nvSpPr>
          <p:cNvPr id="22" name="object 6"/>
          <p:cNvSpPr txBox="1"/>
          <p:nvPr>
            <p:custDataLst>
              <p:tags r:id="rId7"/>
            </p:custDataLst>
          </p:nvPr>
        </p:nvSpPr>
        <p:spPr>
          <a:xfrm>
            <a:off x="6616065" y="1765300"/>
            <a:ext cx="16198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60000"/>
              </a:lnSpc>
              <a:spcBef>
                <a:spcPts val="300"/>
              </a:spcBef>
            </a:pPr>
            <a:r>
              <a:rPr lang="en-US" sz="200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Example:</a:t>
            </a:r>
            <a:endParaRPr sz="2000" dirty="0">
              <a:latin typeface="PingFang SC Light"/>
              <a:cs typeface="PingFang SC Light"/>
            </a:endParaRPr>
          </a:p>
        </p:txBody>
      </p:sp>
      <p:sp>
        <p:nvSpPr>
          <p:cNvPr id="23" name="object 6"/>
          <p:cNvSpPr txBox="1"/>
          <p:nvPr>
            <p:custDataLst>
              <p:tags r:id="rId8"/>
            </p:custDataLst>
          </p:nvPr>
        </p:nvSpPr>
        <p:spPr>
          <a:xfrm>
            <a:off x="765776" y="2323074"/>
            <a:ext cx="4713073" cy="401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目的： 描述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通过系统构建三层架构的场景</a:t>
            </a:r>
            <a:endParaRPr lang="en-US" altLang="zh-CN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个体： 团队领导者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endParaRPr lang="zh-CN" altLang="en-US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设备： 支持常见浏览器的电脑</a:t>
            </a:r>
            <a:endParaRPr lang="en-US" altLang="zh-CN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场景：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登录平台，创建一个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。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登录机制实现和创建逻辑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endParaRPr lang="zh-CN" altLang="en-US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进入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成员管理页，邀请协作者加入，并设置其权限角色。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邀请机制以及相关系统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在该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下新建一个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，设置该项目的起止日期。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为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录入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Tasks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，设置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assignee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DDL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等，设置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前置关系和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tag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等。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忘记输入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assignee DDL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怎么处理  如果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tasks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形成环如何处理或判断预防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endParaRPr lang="zh-CN" altLang="en-US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object 6"/>
          <p:cNvSpPr txBox="1"/>
          <p:nvPr>
            <p:custDataLst>
              <p:tags r:id="rId9"/>
            </p:custDataLst>
          </p:nvPr>
        </p:nvSpPr>
        <p:spPr>
          <a:xfrm>
            <a:off x="6747510" y="2304415"/>
            <a:ext cx="5114290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目的：描述 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Member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上传文件并标记任务流程的场景</a:t>
            </a:r>
            <a:endParaRPr lang="en-US" altLang="zh-CN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个体： 团队成员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</a:t>
            </a:r>
            <a:endParaRPr lang="zh-CN" altLang="en-US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设备： 支持常见浏览器的电脑</a:t>
            </a:r>
            <a:endParaRPr lang="en-US" altLang="zh-CN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场景：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登录平台，查阅动态消息中新任务。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如何实现消息查阅是否需要确认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  <a:endParaRPr lang="zh-CN" altLang="en-US" sz="1600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点击任务查阅任务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description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，确认前置任务已经完成，并将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状态修改为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pending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。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其他查阅任务详情的逻辑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完成了任务并在对应的文件池中对应任务提交本地技术文档，总结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Skills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 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转到任务界面并将任务标记为</a:t>
            </a:r>
            <a:r>
              <a:rPr lang="en-US" altLang="zh-CN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finished</a:t>
            </a:r>
            <a:r>
              <a:rPr lang="zh-CN" altLang="en-US" sz="16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，退出登录。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 txBox="1">
            <a:spLocks noGrp="1"/>
          </p:cNvSpPr>
          <p:nvPr>
            <p:ph type="title"/>
          </p:nvPr>
        </p:nvSpPr>
        <p:spPr>
          <a:xfrm>
            <a:off x="558800" y="576263"/>
            <a:ext cx="25412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50" dirty="0">
                <a:latin typeface="Lantinghei SC Heavy"/>
                <a:cs typeface="Lantinghei SC Heavy"/>
              </a:rPr>
              <a:t>总用例图</a:t>
            </a:r>
            <a:endParaRPr spc="50" dirty="0">
              <a:latin typeface="Lantinghei SC Heavy"/>
              <a:cs typeface="Lantinghei SC Heavy"/>
            </a:endParaRPr>
          </a:p>
        </p:txBody>
      </p:sp>
      <p:sp>
        <p:nvSpPr>
          <p:cNvPr id="22" name="object 6"/>
          <p:cNvSpPr txBox="1"/>
          <p:nvPr/>
        </p:nvSpPr>
        <p:spPr>
          <a:xfrm>
            <a:off x="8077200" y="1317625"/>
            <a:ext cx="198183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Leader</a:t>
            </a:r>
            <a:endParaRPr sz="2000" dirty="0">
              <a:latin typeface="PingFang SC Light"/>
              <a:cs typeface="PingFang SC Ligh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t="4053" b="3948"/>
          <a:stretch>
            <a:fillRect/>
          </a:stretch>
        </p:blipFill>
        <p:spPr>
          <a:xfrm>
            <a:off x="914400" y="1143000"/>
            <a:ext cx="6781800" cy="5410201"/>
          </a:xfrm>
          <a:prstGeom prst="rect">
            <a:avLst/>
          </a:prstGeom>
        </p:spPr>
      </p:pic>
      <p:sp>
        <p:nvSpPr>
          <p:cNvPr id="25" name="object 6"/>
          <p:cNvSpPr txBox="1"/>
          <p:nvPr/>
        </p:nvSpPr>
        <p:spPr>
          <a:xfrm>
            <a:off x="8534400" y="1905000"/>
            <a:ext cx="3124200" cy="2782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目的：本图覆盖了 </a:t>
            </a:r>
            <a:r>
              <a:rPr lang="en-US" altLang="zh-CN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 </a:t>
            </a: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总体的管理场景，包含 </a:t>
            </a:r>
            <a:r>
              <a:rPr lang="en-US" altLang="zh-CN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</a:t>
            </a: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</a:t>
            </a: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 </a:t>
            </a: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的创建管理操作，文件管理和权限设置、以及关于</a:t>
            </a:r>
            <a:r>
              <a:rPr lang="en-US" altLang="zh-CN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project</a:t>
            </a:r>
            <a:r>
              <a:rPr lang="zh-CN" altLang="en-US" sz="2000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的进度审计。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/>
          <p:cNvSpPr txBox="1">
            <a:spLocks noGrp="1"/>
          </p:cNvSpPr>
          <p:nvPr>
            <p:ph type="title"/>
          </p:nvPr>
        </p:nvSpPr>
        <p:spPr>
          <a:xfrm>
            <a:off x="558800" y="576263"/>
            <a:ext cx="25412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50" dirty="0">
                <a:latin typeface="Lantinghei SC Heavy"/>
                <a:cs typeface="Lantinghei SC Heavy"/>
              </a:rPr>
              <a:t>总用例图</a:t>
            </a:r>
            <a:endParaRPr spc="50" dirty="0">
              <a:latin typeface="Lantinghei SC Heavy"/>
              <a:cs typeface="Lantinghei SC Heavy"/>
            </a:endParaRPr>
          </a:p>
        </p:txBody>
      </p:sp>
      <p:sp>
        <p:nvSpPr>
          <p:cNvPr id="22" name="object 6"/>
          <p:cNvSpPr txBox="1"/>
          <p:nvPr/>
        </p:nvSpPr>
        <p:spPr>
          <a:xfrm>
            <a:off x="7848600" y="1371600"/>
            <a:ext cx="203327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en-US" sz="2800" b="1" spc="-75" dirty="0">
                <a:solidFill>
                  <a:srgbClr val="EE4444"/>
                </a:solidFill>
                <a:latin typeface="Lantinghei SC Heavy"/>
                <a:cs typeface="PingFang SC Light"/>
              </a:rPr>
              <a:t>M</a:t>
            </a:r>
            <a:r>
              <a:rPr lang="en-US" altLang="zh-CN" sz="2800" b="1" spc="-75" dirty="0">
                <a:solidFill>
                  <a:srgbClr val="EE4444"/>
                </a:solidFill>
                <a:latin typeface="Lantinghei SC Heavy"/>
                <a:cs typeface="PingFang SC Light"/>
              </a:rPr>
              <a:t>ember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19200"/>
            <a:ext cx="6858000" cy="523970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86650" y="1991995"/>
            <a:ext cx="474980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基于三层架构，设计 </a:t>
            </a:r>
            <a:r>
              <a:rPr lang="en-US" altLang="zh-CN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Member </a:t>
            </a: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执行用例。</a:t>
            </a:r>
          </a:p>
          <a:p>
            <a:pPr indent="457200">
              <a:lnSpc>
                <a:spcPct val="150000"/>
              </a:lnSpc>
              <a:buNone/>
            </a:pPr>
            <a:endParaRPr lang="en-US" altLang="zh-CN" sz="1800" b="1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按照状态改变，设计每一次任务状态改变都会自动触发 </a:t>
            </a:r>
            <a:r>
              <a:rPr lang="en-US" altLang="zh-CN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Feed </a:t>
            </a: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流更新与通知消息。</a:t>
            </a:r>
            <a:endParaRPr lang="en-US" altLang="zh-CN" sz="1800" b="1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设计甘特图查看和</a:t>
            </a:r>
            <a:r>
              <a:rPr lang="en-US" altLang="zh-CN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</a:t>
            </a: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评论；</a:t>
            </a:r>
          </a:p>
          <a:p>
            <a:pPr>
              <a:lnSpc>
                <a:spcPct val="150000"/>
              </a:lnSpc>
              <a:buNone/>
            </a:pPr>
            <a:endParaRPr lang="en-US" altLang="zh-CN" sz="1800" b="1" spc="-1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尝试实现 </a:t>
            </a:r>
            <a:r>
              <a:rPr lang="en-US" altLang="zh-CN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Markdown </a:t>
            </a: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在线编辑预览，满足技术文档频繁迭代的需求。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10439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1476374"/>
            <a:ext cx="2057399" cy="17240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400" y="1476375"/>
            <a:ext cx="2057399" cy="1724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7300" y="1476374"/>
            <a:ext cx="2057399" cy="17240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5200" y="1476375"/>
            <a:ext cx="2057399" cy="1724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63100" y="1476375"/>
            <a:ext cx="2057399" cy="1724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4450" y="1676400"/>
            <a:ext cx="571499" cy="571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97890" y="2214245"/>
            <a:ext cx="1466215" cy="105600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350" b="1" spc="-25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郑宇</a:t>
            </a: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全栈</a:t>
            </a:r>
            <a:r>
              <a:rPr lang="en-US" altLang="zh-CN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部署、</a:t>
            </a:r>
            <a:r>
              <a:rPr lang="en-US" altLang="zh-CN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</a:t>
            </a: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、辅助开发</a:t>
            </a:r>
            <a:endParaRPr lang="en-US" sz="1050" b="1" spc="-55" dirty="0">
              <a:solidFill>
                <a:srgbClr val="6473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endParaRPr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62350" y="1676400"/>
            <a:ext cx="571499" cy="5714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33692" y="2244344"/>
            <a:ext cx="1466274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925"/>
              </a:spcBef>
            </a:pPr>
            <a:r>
              <a:rPr sz="1350" b="1" spc="-20" dirty="0">
                <a:solidFill>
                  <a:srgbClr val="005088"/>
                </a:solidFill>
                <a:latin typeface="Arial" panose="020B0604020202020204" pitchFamily="34" charset="0"/>
                <a:cs typeface="Lantinghei SC Heavy"/>
              </a:rPr>
              <a:t>沈书灏</a:t>
            </a:r>
            <a:endParaRPr sz="1350" dirty="0">
              <a:latin typeface="Arial" panose="020B0604020202020204" pitchFamily="34" charset="0"/>
              <a:cs typeface="Lantinghei SC Heavy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050" b="1" spc="-10" dirty="0" err="1">
                <a:solidFill>
                  <a:srgbClr val="64738B"/>
                </a:solidFill>
                <a:latin typeface="Arial" panose="020B0604020202020204" pitchFamily="34" charset="0"/>
                <a:cs typeface="Hiragino Sans GB W6"/>
              </a:rPr>
              <a:t>前端核</a:t>
            </a:r>
            <a:r>
              <a:rPr lang="zh-CN" altLang="en-US" sz="1050" b="1" spc="-10" dirty="0">
                <a:solidFill>
                  <a:srgbClr val="64738B"/>
                </a:solidFill>
                <a:latin typeface="Arial" panose="020B0604020202020204" pitchFamily="34" charset="0"/>
                <a:cs typeface="Hiragino Sans GB W6"/>
              </a:rPr>
              <a:t>心</a:t>
            </a:r>
            <a:r>
              <a:rPr sz="1050" b="1" spc="-10" dirty="0" err="1">
                <a:solidFill>
                  <a:srgbClr val="64738B"/>
                </a:solidFill>
                <a:latin typeface="Arial" panose="020B0604020202020204" pitchFamily="34" charset="0"/>
                <a:cs typeface="Hiragino Sans GB W6"/>
              </a:rPr>
              <a:t>研发</a:t>
            </a:r>
            <a:endParaRPr lang="en-US" sz="1050" b="1" spc="-10" dirty="0">
              <a:solidFill>
                <a:srgbClr val="64738B"/>
              </a:solidFill>
              <a:latin typeface="Arial" panose="020B0604020202020204" pitchFamily="34" charset="0"/>
              <a:cs typeface="Hiragino Sans GB W6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10" dirty="0">
                <a:solidFill>
                  <a:srgbClr val="64738B"/>
                </a:solidFill>
                <a:latin typeface="Arial" panose="020B0604020202020204" pitchFamily="34" charset="0"/>
                <a:cs typeface="Hiragino Sans GB W6"/>
              </a:rPr>
              <a:t>架构、组件库、状态管理</a:t>
            </a:r>
            <a:endParaRPr lang="en-US" sz="1050" b="1" spc="-10" dirty="0">
              <a:solidFill>
                <a:srgbClr val="64738B"/>
              </a:solidFill>
              <a:latin typeface="Arial" panose="020B0604020202020204" pitchFamily="34" charset="0"/>
              <a:cs typeface="Hiragino Sans GB W6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0" y="1676400"/>
            <a:ext cx="571499" cy="5714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69927" y="2268253"/>
            <a:ext cx="1481823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25"/>
              </a:spcBef>
            </a:pPr>
            <a:r>
              <a:rPr sz="1350" b="1" spc="-2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张凯轩</a:t>
            </a: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后端核心</a:t>
            </a:r>
            <a:r>
              <a:rPr lang="en-US" altLang="zh-CN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050" b="1" spc="-55" dirty="0">
              <a:solidFill>
                <a:srgbClr val="6473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en-US" altLang="zh-CN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架构、数据库、核心逻辑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8150" y="1676400"/>
            <a:ext cx="571499" cy="5714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57903" y="2266387"/>
            <a:ext cx="1981200" cy="8121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925"/>
              </a:spcBef>
            </a:pPr>
            <a:r>
              <a:rPr sz="1350" b="1" spc="-25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刘喆</a:t>
            </a: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8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后端核心</a:t>
            </a:r>
            <a:r>
              <a:rPr lang="en-US" altLang="zh-CN" sz="1050" b="1" spc="-8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050" b="1" spc="-13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b="1" spc="-55" dirty="0" err="1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集成</a:t>
            </a: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BFF</a:t>
            </a:r>
            <a:r>
              <a:rPr lang="zh-CN" altLang="en-US" sz="1050" b="1" spc="-55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、性能优化</a:t>
            </a:r>
            <a:endParaRPr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06050" y="1676400"/>
            <a:ext cx="571499" cy="5714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52438" y="2272162"/>
            <a:ext cx="1678572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925"/>
              </a:spcBef>
            </a:pPr>
            <a:r>
              <a:rPr sz="1350" b="1" spc="-2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汪睿涵</a:t>
            </a:r>
            <a:endParaRPr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50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测试</a:t>
            </a:r>
            <a:r>
              <a:rPr lang="en-US" altLang="zh-CN" sz="1050" b="1" spc="-50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050" b="1" spc="-50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</a:t>
            </a:r>
            <a:r>
              <a:rPr lang="zh-CN" altLang="en-US" sz="1050" b="1" spc="-50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兼文档</a:t>
            </a:r>
            <a:endParaRPr lang="en-US" altLang="zh-CN" sz="1050" b="1" spc="-50" dirty="0">
              <a:solidFill>
                <a:srgbClr val="6473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ctr">
              <a:lnSpc>
                <a:spcPct val="100000"/>
              </a:lnSpc>
              <a:spcBef>
                <a:spcPts val="640"/>
              </a:spcBef>
            </a:pPr>
            <a:r>
              <a:rPr lang="zh-CN" altLang="en-US" sz="1050" b="1" spc="-50" dirty="0">
                <a:solidFill>
                  <a:srgbClr val="6473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功能测试、自动化、文档</a:t>
            </a:r>
            <a:endParaRPr lang="en-US" altLang="zh-CN" sz="1050" b="1" spc="-50" dirty="0">
              <a:solidFill>
                <a:srgbClr val="6473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364" y="3770006"/>
            <a:ext cx="296464" cy="3809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1200" y="1847850"/>
            <a:ext cx="177848" cy="2285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59100" y="1847850"/>
            <a:ext cx="177848" cy="2285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07000" y="1847850"/>
            <a:ext cx="177848" cy="2285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54900" y="1847850"/>
            <a:ext cx="177848" cy="2285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2800" y="1847850"/>
            <a:ext cx="177848" cy="2285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71601" y="3770007"/>
            <a:ext cx="4038599" cy="1060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950" b="1" spc="35" dirty="0" err="1">
                <a:solidFill>
                  <a:srgbClr val="11CA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动态容错机制</a:t>
            </a:r>
            <a:r>
              <a:rPr sz="1950" b="1" spc="35" dirty="0">
                <a:solidFill>
                  <a:srgbClr val="11CA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950" b="1" spc="35" dirty="0">
              <a:solidFill>
                <a:srgbClr val="11CA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人（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）可互为备份，避免单点故障。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全栈与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可在紧急时支援前端或后端。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4323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latin typeface="Arial" panose="020B0604020202020204" pitchFamily="34" charset="0"/>
                <a:cs typeface="Lantinghei SC Heavy"/>
              </a:rPr>
              <a:t>团队架构与敏捷容错管理</a:t>
            </a:r>
          </a:p>
        </p:txBody>
      </p:sp>
      <p:sp>
        <p:nvSpPr>
          <p:cNvPr id="26" name="object 26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4"/>
          <p:cNvSpPr txBox="1"/>
          <p:nvPr/>
        </p:nvSpPr>
        <p:spPr>
          <a:xfrm>
            <a:off x="6324524" y="3770007"/>
            <a:ext cx="5295975" cy="1640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zh-CN" altLang="en-US" sz="1950" b="1" spc="35" dirty="0">
                <a:solidFill>
                  <a:srgbClr val="11CA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人员变动应对机制</a:t>
            </a:r>
            <a:endParaRPr lang="en-US" altLang="zh-CN" sz="1950" b="1" spc="35" dirty="0">
              <a:solidFill>
                <a:srgbClr val="11CA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后端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A/B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生病，后端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B/A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接管其任务；全栈支援关键接口；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可协助回归测试。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前端核心缺席，全栈顶上；测试可帮忙写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测试。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缺席，全员交叉执行冒烟测试；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中跑通核心自动化用例。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多人同时缺席，简化功能范围（去掉非</a:t>
            </a:r>
            <a:r>
              <a:rPr lang="en-US" altLang="zh-CN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</a:t>
            </a:r>
            <a:r>
              <a:rPr lang="zh-CN" altLang="en-US" sz="12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特性）；聚焦已有功能的稳定性。</a:t>
            </a:r>
            <a:endParaRPr lang="en-US" altLang="zh-CN" sz="1200" spc="-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10536" y="3770005"/>
            <a:ext cx="296464" cy="380999"/>
          </a:xfrm>
          <a:prstGeom prst="rect">
            <a:avLst/>
          </a:prstGeom>
        </p:spPr>
      </p:pic>
      <p:pic>
        <p:nvPicPr>
          <p:cNvPr id="44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2800" y="3581400"/>
            <a:ext cx="12192000" cy="104394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115102" y="3770005"/>
            <a:ext cx="2139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Node.js + Express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熟练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MySQL 8.0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JSON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字段、全文索引、事务）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Prisma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（迁移、关系查询、性能优化）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461334" y="3770005"/>
            <a:ext cx="20053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Node.js + Express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WebSocket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与轮询的取舍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Python/Java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经验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895600" y="3772876"/>
            <a:ext cx="61062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Vue 3 + TypeScript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Vite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构建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Axios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solidFill>
                  <a:srgbClr val="0F111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原生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fetch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16375" y="3770005"/>
            <a:ext cx="2005364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Docker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、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Nginx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Node.js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环境配置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MySQL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容器化数据持久化</a:t>
            </a:r>
          </a:p>
          <a:p>
            <a:br>
              <a:rPr lang="zh-CN" altLang="en-US" sz="1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zh-CN" altLang="en-US" sz="14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62160" y="3719195"/>
            <a:ext cx="221234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Prisma Studio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查看数据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SQL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验证数据一致性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GitHub Issues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或看板工具管理缺陷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10439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1476374"/>
            <a:ext cx="2057399" cy="17240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9400" y="1476375"/>
            <a:ext cx="2057399" cy="1724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7300" y="1476374"/>
            <a:ext cx="2057399" cy="17240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5200" y="1476375"/>
            <a:ext cx="2057399" cy="1724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63100" y="1476375"/>
            <a:ext cx="2057399" cy="1724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4450" y="1676400"/>
            <a:ext cx="571499" cy="571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97890" y="2214245"/>
            <a:ext cx="1541145" cy="105600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0" cap="none" spc="-25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cs typeface="Arial" panose="020B0604020202020204" pitchFamily="34" charset="0"/>
              </a:rPr>
              <a:t>郑宇</a:t>
            </a: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全栈</a:t>
            </a:r>
            <a:r>
              <a:rPr kumimoji="0" lang="en-US" altLang="zh-CN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/</a:t>
            </a:r>
            <a:r>
              <a:rPr kumimoji="0" 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DevOps</a:t>
            </a: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部署、</a:t>
            </a:r>
            <a:r>
              <a:rPr kumimoji="0" lang="en-US" altLang="zh-CN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CI/CD</a:t>
            </a: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、辅助开发</a:t>
            </a:r>
            <a:endParaRPr kumimoji="0" lang="en-US" sz="1050" b="1" i="0" u="none" strike="noStrike" kern="0" cap="none" spc="-55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62350" y="1676400"/>
            <a:ext cx="571499" cy="5714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33692" y="2244344"/>
            <a:ext cx="1466274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0" marR="2540" lvl="0" indent="0" algn="ctr" defTabSz="91440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0" cap="none" spc="-2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cs typeface="Lantinghei SC Heavy"/>
              </a:rPr>
              <a:t>沈书灏</a:t>
            </a: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Lantinghei SC Heavy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b="1" i="0" u="none" strike="noStrike" kern="0" cap="none" spc="-10" normalizeH="0" baseline="0" noProof="0" dirty="0" err="1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Hiragino Sans GB W6"/>
              </a:rPr>
              <a:t>前端核</a:t>
            </a:r>
            <a:r>
              <a:rPr kumimoji="0" lang="zh-CN" altLang="en-US" sz="1050" b="1" i="0" u="none" strike="noStrike" kern="0" cap="none" spc="-1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Hiragino Sans GB W6"/>
              </a:rPr>
              <a:t>心</a:t>
            </a:r>
            <a:r>
              <a:rPr kumimoji="0" sz="1050" b="1" i="0" u="none" strike="noStrike" kern="0" cap="none" spc="-10" normalizeH="0" baseline="0" noProof="0" dirty="0" err="1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Hiragino Sans GB W6"/>
              </a:rPr>
              <a:t>研发</a:t>
            </a:r>
            <a:endParaRPr kumimoji="0" lang="en-US" sz="1050" b="1" i="0" u="none" strike="noStrike" kern="0" cap="none" spc="-10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Hiragino Sans GB W6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1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Hiragino Sans GB W6"/>
              </a:rPr>
              <a:t>架构、组件库、状态管理</a:t>
            </a:r>
            <a:endParaRPr kumimoji="0" lang="en-US" sz="1050" b="1" i="0" u="none" strike="noStrike" kern="0" cap="none" spc="-10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Hiragino Sans GB W6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0" y="1676400"/>
            <a:ext cx="571499" cy="5714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69927" y="2268253"/>
            <a:ext cx="1481823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0" marR="8255" lvl="0" indent="0" algn="ctr" defTabSz="91440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0" cap="none" spc="-2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cs typeface="Arial" panose="020B0604020202020204" pitchFamily="34" charset="0"/>
              </a:rPr>
              <a:t>张凯轩</a:t>
            </a: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后端核心</a:t>
            </a:r>
            <a:r>
              <a:rPr kumimoji="0" lang="en-US" altLang="zh-CN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A</a:t>
            </a: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endParaRPr kumimoji="0" lang="en-US" altLang="zh-CN" sz="1050" b="1" i="0" u="none" strike="noStrike" kern="0" cap="none" spc="-55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架构、数据库、核心逻辑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8150" y="1676400"/>
            <a:ext cx="571499" cy="5714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57903" y="2266387"/>
            <a:ext cx="1981200" cy="81216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0" marR="3175" lvl="0" indent="0" algn="ctr" defTabSz="91440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0" cap="none" spc="-25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cs typeface="Arial" panose="020B0604020202020204" pitchFamily="34" charset="0"/>
              </a:rPr>
              <a:t>刘喆</a:t>
            </a: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8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后端核心</a:t>
            </a:r>
            <a:r>
              <a:rPr kumimoji="0" lang="en-US" altLang="zh-CN" sz="1050" b="1" i="0" u="none" strike="noStrike" kern="0" cap="none" spc="-8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b="1" i="0" u="none" strike="noStrike" kern="0" cap="none" spc="-13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RAG</a:t>
            </a:r>
            <a:r>
              <a:rPr kumimoji="0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sz="1050" b="1" i="0" u="none" strike="noStrike" kern="0" cap="none" spc="-55" normalizeH="0" baseline="0" noProof="0" dirty="0" err="1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集成</a:t>
            </a: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、</a:t>
            </a:r>
            <a:r>
              <a:rPr kumimoji="0" lang="en-US" altLang="zh-CN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BFF</a:t>
            </a:r>
            <a:r>
              <a:rPr kumimoji="0" lang="zh-CN" altLang="en-US" sz="1050" b="1" i="0" u="none" strike="noStrike" kern="0" cap="none" spc="-55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、性能优化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06050" y="1676400"/>
            <a:ext cx="571499" cy="5714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52438" y="2272162"/>
            <a:ext cx="1678572" cy="8034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0" marR="8255" lvl="0" indent="0" algn="ctr" defTabSz="91440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50" b="1" i="0" u="none" strike="noStrike" kern="0" cap="none" spc="-2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cs typeface="Arial" panose="020B0604020202020204" pitchFamily="34" charset="0"/>
              </a:rPr>
              <a:t>汪睿涵</a:t>
            </a: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5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测试</a:t>
            </a:r>
            <a:r>
              <a:rPr kumimoji="0" lang="en-US" altLang="zh-CN" sz="1050" b="1" i="0" u="none" strike="noStrike" kern="0" cap="none" spc="-5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/</a:t>
            </a:r>
            <a:r>
              <a:rPr kumimoji="0" lang="en-US" sz="1050" b="1" i="0" u="none" strike="noStrike" kern="0" cap="none" spc="-5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QA</a:t>
            </a:r>
            <a:r>
              <a:rPr kumimoji="0" lang="zh-CN" altLang="en-US" sz="1050" b="1" i="0" u="none" strike="noStrike" kern="0" cap="none" spc="-5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兼文档</a:t>
            </a:r>
            <a:endParaRPr kumimoji="0" lang="en-US" altLang="zh-CN" sz="1050" b="1" i="0" u="none" strike="noStrike" kern="0" cap="none" spc="-50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2700" marR="5080" lvl="0" indent="0" algn="ctr" defTabSz="91440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-50" normalizeH="0" baseline="0" noProof="0" dirty="0">
                <a:ln>
                  <a:noFill/>
                </a:ln>
                <a:solidFill>
                  <a:srgbClr val="64738B"/>
                </a:solidFill>
                <a:effectLst/>
                <a:uLnTx/>
                <a:uFillTx/>
                <a:cs typeface="Arial" panose="020B0604020202020204" pitchFamily="34" charset="0"/>
              </a:rPr>
              <a:t>功能测试、自动化、文档</a:t>
            </a:r>
            <a:endParaRPr kumimoji="0" lang="en-US" altLang="zh-CN" sz="1050" b="1" i="0" u="none" strike="noStrike" kern="0" cap="none" spc="-50" normalizeH="0" baseline="0" noProof="0" dirty="0">
              <a:ln>
                <a:noFill/>
              </a:ln>
              <a:solidFill>
                <a:srgbClr val="64738B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364" y="3770006"/>
            <a:ext cx="296464" cy="3809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11200" y="1847850"/>
            <a:ext cx="177848" cy="2285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59100" y="1847850"/>
            <a:ext cx="177848" cy="2285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07000" y="1847850"/>
            <a:ext cx="177848" cy="2285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254900" y="1847850"/>
            <a:ext cx="177848" cy="2285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2800" y="1847850"/>
            <a:ext cx="177848" cy="2285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71601" y="3770007"/>
            <a:ext cx="4038599" cy="1060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950" b="1" i="0" u="none" strike="noStrike" kern="0" cap="none" spc="35" normalizeH="0" baseline="0" noProof="0" dirty="0" err="1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动态容错机制</a:t>
            </a:r>
            <a:r>
              <a:rPr kumimoji="0" sz="1950" b="1" i="0" u="none" strike="noStrike" kern="0" cap="none" spc="35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endParaRPr kumimoji="0" lang="en-US" sz="1950" b="1" i="0" u="none" strike="noStrike" kern="0" cap="none" spc="35" normalizeH="0" baseline="0" noProof="0" dirty="0">
              <a:ln>
                <a:noFill/>
              </a:ln>
              <a:solidFill>
                <a:srgbClr val="11CAA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后端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2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人（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A/B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）可互为备份，避免单点故障。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全栈与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QA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可在紧急时支援前端或后端。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4323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>
                <a:latin typeface="Arial" panose="020B0604020202020204" pitchFamily="34" charset="0"/>
                <a:cs typeface="Lantinghei SC Heavy"/>
              </a:rPr>
              <a:t>团队架构与敏捷容错管理</a:t>
            </a:r>
          </a:p>
        </p:txBody>
      </p:sp>
      <p:sp>
        <p:nvSpPr>
          <p:cNvPr id="26" name="object 26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8" name="object 24"/>
          <p:cNvSpPr txBox="1"/>
          <p:nvPr/>
        </p:nvSpPr>
        <p:spPr>
          <a:xfrm>
            <a:off x="6324524" y="3770007"/>
            <a:ext cx="5295975" cy="16401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0" cap="none" spc="35" normalizeH="0" baseline="0" noProof="0" dirty="0">
                <a:ln>
                  <a:noFill/>
                </a:ln>
                <a:solidFill>
                  <a:srgbClr val="11CAA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人员变动应对机制</a:t>
            </a:r>
            <a:endParaRPr kumimoji="0" lang="en-US" altLang="zh-CN" sz="1950" b="1" i="0" u="none" strike="noStrike" kern="0" cap="none" spc="35" normalizeH="0" baseline="0" noProof="0" dirty="0">
              <a:ln>
                <a:noFill/>
              </a:ln>
              <a:solidFill>
                <a:srgbClr val="11CAA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后端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A/B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生病，后端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B/A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接管其任务；全栈支援关键接口；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QA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可协助回归测试。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前端核心缺席，全栈顶上；测试可帮忙写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UI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测试。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QA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缺席，全员交叉执行冒烟测试；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CI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中跑通核心自动化用例。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12700" marR="0" lvl="0" indent="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多人同时缺席，简化功能范围（去掉非</a:t>
            </a:r>
            <a:r>
              <a:rPr kumimoji="0" lang="en-US" altLang="zh-CN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MVP</a:t>
            </a:r>
            <a:r>
              <a:rPr kumimoji="0" lang="zh-CN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特性）；聚焦已有功能的稳定性。</a:t>
            </a:r>
            <a:endParaRPr kumimoji="0" lang="en-US" altLang="zh-CN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29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10536" y="3770005"/>
            <a:ext cx="296464" cy="380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3007" y="362509"/>
            <a:ext cx="4704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latin typeface="Lantinghei SC Heavy"/>
                <a:cs typeface="Lantinghei SC Heavy"/>
              </a:rPr>
              <a:t>资源配置策略与经济可行性</a:t>
            </a:r>
          </a:p>
        </p:txBody>
      </p:sp>
      <p:sp>
        <p:nvSpPr>
          <p:cNvPr id="6" name="object 6"/>
          <p:cNvSpPr/>
          <p:nvPr/>
        </p:nvSpPr>
        <p:spPr>
          <a:xfrm>
            <a:off x="571500" y="918846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表格 7"/>
          <p:cNvGraphicFramePr>
            <a:graphicFrameLocks noGrp="1"/>
          </p:cNvGraphicFramePr>
          <p:nvPr/>
        </p:nvGraphicFramePr>
        <p:xfrm>
          <a:off x="1152208" y="1447800"/>
          <a:ext cx="9887584" cy="4498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8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574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Arial" panose="020B0604020202020204" pitchFamily="34" charset="0"/>
                        </a:rPr>
                        <a:t>资源类别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Arial" panose="020B0604020202020204" pitchFamily="34" charset="0"/>
                        </a:rPr>
                        <a:t>具体明细与获取方式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预估成本（</a:t>
                      </a:r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RMB</a:t>
                      </a:r>
                      <a:r>
                        <a:rPr lang="zh-CN" alt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Arial" panose="020B0604020202020204" pitchFamily="34" charset="0"/>
                        </a:rPr>
                        <a:t>预算管控策略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469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</a:rPr>
                        <a:t>人力资源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spc="-1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1800" b="0" spc="-2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名计算机专业学生，按敏捷开发生命周期全职参与</a:t>
                      </a:r>
                      <a:r>
                        <a:rPr lang="zh-CN" altLang="en-US" sz="1800" b="0" spc="-5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。</a:t>
                      </a:r>
                      <a:endParaRPr lang="zh-CN" alt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PingFang SC Light"/>
                        </a:rPr>
                        <a:t>项目作为核⼼专业实验，团队人力成本内化</a:t>
                      </a:r>
                      <a:r>
                        <a:rPr lang="zh-CN" altLang="en-US" sz="1800" b="0" spc="-5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PingFang SC Light"/>
                        </a:rPr>
                        <a:t>。</a:t>
                      </a:r>
                      <a:endParaRPr lang="zh-CN" altLang="en-US" b="0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469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开发工具与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</a:t>
                      </a:r>
                      <a:endParaRPr lang="zh-CN" alt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 Code, </a:t>
                      </a:r>
                      <a:r>
                        <a:rPr lang="en-US" altLang="zh-CN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Gitee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Node.js, Vue3 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等框架均采⽤ 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 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或开源协议。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</a:rPr>
                        <a:t>全量采用成熟开源技术栈，无软件许可纠纷风险。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469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</a:rPr>
                        <a:t>硬件与云服务器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国内云服务商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阿里云、华为云、腾讯云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基础轻量应用服务器 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生产环境部署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0-100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</a:rPr>
                        <a:t>利用学生优惠政策，降低线上部署成本。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接口调用费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调用国内大语言模型 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(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处理 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 ⽂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本推断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开发测试阶段利用厂商免费 </a:t>
                      </a:r>
                      <a:r>
                        <a:rPr lang="en-US" altLang="zh-C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 </a:t>
                      </a:r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额度，成本</a:t>
                      </a:r>
                    </a:p>
                    <a:p>
                      <a:r>
                        <a:rPr lang="zh-CN" alt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极低。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469">
                <a:tc gridSpan="4">
                  <a:txBody>
                    <a:bodyPr/>
                    <a:lstStyle/>
                    <a:p>
                      <a:r>
                        <a:rPr lang="zh-CN" altLang="en-US" b="0" dirty="0">
                          <a:latin typeface="Arial" panose="020B0604020202020204" pitchFamily="34" charset="0"/>
                        </a:rPr>
                        <a:t>结论：本项目具有极高的经济可行性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46570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>
                <a:latin typeface="Lantinghei SC Heavy"/>
                <a:cs typeface="Lantinghei SC Heavy"/>
              </a:rPr>
              <a:t>项目执行进度与交付里程碑</a:t>
            </a:r>
          </a:p>
        </p:txBody>
      </p:sp>
      <p:sp>
        <p:nvSpPr>
          <p:cNvPr id="13" name="object 13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1196975"/>
            <a:ext cx="10955020" cy="2542540"/>
          </a:xfrm>
          <a:prstGeom prst="rect">
            <a:avLst/>
          </a:prstGeom>
        </p:spPr>
      </p:pic>
      <p:pic>
        <p:nvPicPr>
          <p:cNvPr id="2" name="object 2"/>
          <p:cNvPicPr/>
          <p:nvPr>
            <p:custDataLst>
              <p:tags r:id="rId1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571500" y="4105275"/>
            <a:ext cx="2541239" cy="2200274"/>
          </a:xfrm>
          <a:prstGeom prst="rect">
            <a:avLst/>
          </a:prstGeom>
        </p:spPr>
      </p:pic>
      <p:pic>
        <p:nvPicPr>
          <p:cNvPr id="3" name="object 3"/>
          <p:cNvPicPr/>
          <p:nvPr>
            <p:custDataLst>
              <p:tags r:id="rId2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3407419" y="4105275"/>
            <a:ext cx="2541239" cy="2200274"/>
          </a:xfrm>
          <a:prstGeom prst="rect">
            <a:avLst/>
          </a:prstGeom>
        </p:spPr>
      </p:pic>
      <p:pic>
        <p:nvPicPr>
          <p:cNvPr id="4" name="object 4"/>
          <p:cNvPicPr/>
          <p:nvPr>
            <p:custDataLst>
              <p:tags r:id="rId3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6243339" y="4105275"/>
            <a:ext cx="2541239" cy="2200274"/>
          </a:xfrm>
          <a:prstGeom prst="rect">
            <a:avLst/>
          </a:prstGeom>
        </p:spPr>
      </p:pic>
      <p:pic>
        <p:nvPicPr>
          <p:cNvPr id="5" name="object 5"/>
          <p:cNvPicPr/>
          <p:nvPr>
            <p:custDataLst>
              <p:tags r:id="rId4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9079259" y="4105275"/>
            <a:ext cx="2541239" cy="2200274"/>
          </a:xfrm>
          <a:prstGeom prst="rect">
            <a:avLst/>
          </a:prstGeom>
        </p:spPr>
      </p:pic>
      <p:sp>
        <p:nvSpPr>
          <p:cNvPr id="7" name="object 7"/>
          <p:cNvSpPr/>
          <p:nvPr>
            <p:custDataLst>
              <p:tags r:id="rId5"/>
            </p:custDataLst>
          </p:nvPr>
        </p:nvSpPr>
        <p:spPr>
          <a:xfrm>
            <a:off x="571500" y="4200525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CBD4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>
            <p:custDataLst>
              <p:tags r:id="rId6"/>
            </p:custDataLst>
          </p:nvPr>
        </p:nvSpPr>
        <p:spPr>
          <a:xfrm>
            <a:off x="859148" y="4361179"/>
            <a:ext cx="1998345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B"/>
                </a:solidFill>
                <a:latin typeface="Lantinghei SC Heavy"/>
                <a:cs typeface="Lantinghei SC Heavy"/>
              </a:rPr>
              <a:t>第 </a:t>
            </a:r>
            <a:r>
              <a:rPr sz="1500" b="1" spc="-4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1-</a:t>
            </a:r>
            <a:r>
              <a:rPr sz="1500" b="1" spc="12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500" b="1" spc="-2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E293B"/>
                </a:solidFill>
                <a:latin typeface="Lantinghei SC Heavy"/>
                <a:cs typeface="Lantinghei SC Heavy"/>
              </a:rPr>
              <a:t>周</a:t>
            </a:r>
            <a:endParaRPr sz="1500">
              <a:latin typeface="Lantinghei SC Heavy"/>
              <a:cs typeface="Lantinghei SC Heavy"/>
            </a:endParaRPr>
          </a:p>
          <a:p>
            <a:pPr marR="36195" algn="ctr">
              <a:lnSpc>
                <a:spcPct val="100000"/>
              </a:lnSpc>
            </a:pPr>
            <a:r>
              <a:rPr sz="1500" b="1" spc="10" dirty="0">
                <a:solidFill>
                  <a:srgbClr val="64738B"/>
                </a:solidFill>
                <a:latin typeface="Lantinghei SC Heavy"/>
                <a:cs typeface="Lantinghei SC Heavy"/>
              </a:rPr>
              <a:t>分析与基础基建</a:t>
            </a:r>
            <a:endParaRPr sz="1500">
              <a:latin typeface="Lantinghei SC Heavy"/>
              <a:cs typeface="Lantinghei SC Heavy"/>
            </a:endParaRPr>
          </a:p>
          <a:p>
            <a:pPr marL="284480" marR="276860" indent="55245">
              <a:lnSpc>
                <a:spcPct val="102000"/>
              </a:lnSpc>
              <a:spcBef>
                <a:spcPts val="1360"/>
              </a:spcBef>
            </a:pPr>
            <a:r>
              <a:rPr sz="110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完成需求分析建模。</a:t>
            </a: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搭建前后端底层框架。</a:t>
            </a:r>
            <a:endParaRPr sz="1100">
              <a:latin typeface="PingFang SC Light"/>
              <a:cs typeface="PingFang SC Light"/>
            </a:endParaRPr>
          </a:p>
          <a:p>
            <a:pPr marL="163830" marR="5080" indent="-151765">
              <a:lnSpc>
                <a:spcPct val="102000"/>
              </a:lnSpc>
            </a:pP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实现基础任务看板</a:t>
            </a:r>
            <a:r>
              <a:rPr sz="1100" spc="-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(CRUD)</a:t>
            </a:r>
            <a:r>
              <a:rPr sz="1100" spc="-30" dirty="0">
                <a:solidFill>
                  <a:srgbClr val="334155"/>
                </a:solidFill>
                <a:latin typeface="PingFang SC Light"/>
                <a:cs typeface="PingFang SC Light"/>
              </a:rPr>
              <a:t> 与基</a:t>
            </a:r>
            <a:r>
              <a:rPr sz="1100" spc="-15" dirty="0">
                <a:solidFill>
                  <a:srgbClr val="334155"/>
                </a:solidFill>
                <a:latin typeface="PingFang SC Light"/>
                <a:cs typeface="PingFang SC Light"/>
              </a:rPr>
              <a:t>于 </a:t>
            </a:r>
            <a:r>
              <a:rPr sz="1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</a:t>
            </a:r>
            <a:r>
              <a:rPr sz="1100" spc="-15" dirty="0">
                <a:solidFill>
                  <a:srgbClr val="334155"/>
                </a:solidFill>
                <a:latin typeface="PingFang SC Light"/>
                <a:cs typeface="PingFang SC Light"/>
              </a:rPr>
              <a:t> 的权限路由拦截。</a:t>
            </a:r>
            <a:endParaRPr sz="1100">
              <a:latin typeface="PingFang SC Light"/>
              <a:cs typeface="PingFang SC Light"/>
            </a:endParaRPr>
          </a:p>
        </p:txBody>
      </p:sp>
      <p:sp>
        <p:nvSpPr>
          <p:cNvPr id="9" name="object 9"/>
          <p:cNvSpPr txBox="1"/>
          <p:nvPr>
            <p:custDataLst>
              <p:tags r:id="rId7"/>
            </p:custDataLst>
          </p:nvPr>
        </p:nvSpPr>
        <p:spPr>
          <a:xfrm>
            <a:off x="3681209" y="4361179"/>
            <a:ext cx="2025650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B"/>
                </a:solidFill>
                <a:latin typeface="Lantinghei SC Heavy"/>
                <a:cs typeface="Lantinghei SC Heavy"/>
              </a:rPr>
              <a:t>第 </a:t>
            </a:r>
            <a:r>
              <a:rPr sz="1500" b="1" spc="15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3-</a:t>
            </a:r>
            <a:r>
              <a:rPr sz="1500" b="1" spc="20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1500" b="1" spc="-1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E293B"/>
                </a:solidFill>
                <a:latin typeface="Lantinghei SC Heavy"/>
                <a:cs typeface="Lantinghei SC Heavy"/>
              </a:rPr>
              <a:t>周</a:t>
            </a:r>
            <a:endParaRPr sz="1500">
              <a:latin typeface="Lantinghei SC Heavy"/>
              <a:cs typeface="Lantinghei SC Heavy"/>
            </a:endParaRPr>
          </a:p>
          <a:p>
            <a:pPr marR="41910" algn="ctr">
              <a:lnSpc>
                <a:spcPct val="100000"/>
              </a:lnSpc>
            </a:pPr>
            <a:r>
              <a:rPr sz="1500" b="1" spc="10" dirty="0">
                <a:solidFill>
                  <a:srgbClr val="64738B"/>
                </a:solidFill>
                <a:latin typeface="Lantinghei SC Heavy"/>
                <a:cs typeface="Lantinghei SC Heavy"/>
              </a:rPr>
              <a:t>核心业务流打通</a:t>
            </a:r>
            <a:endParaRPr sz="1500">
              <a:latin typeface="Lantinghei SC Heavy"/>
              <a:cs typeface="Lantinghei SC Heavy"/>
            </a:endParaRPr>
          </a:p>
          <a:p>
            <a:pPr marL="226695" marR="219075" indent="71755">
              <a:lnSpc>
                <a:spcPct val="102000"/>
              </a:lnSpc>
              <a:spcBef>
                <a:spcPts val="1360"/>
              </a:spcBef>
            </a:pPr>
            <a:r>
              <a:rPr sz="1100" dirty="0">
                <a:solidFill>
                  <a:srgbClr val="334155"/>
                </a:solidFill>
                <a:latin typeface="PingFang SC Light"/>
                <a:cs typeface="PingFang SC Light"/>
              </a:rPr>
              <a:t>部署</a:t>
            </a:r>
            <a:r>
              <a:rPr sz="11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Socket.io</a:t>
            </a:r>
            <a:r>
              <a:rPr sz="1100" spc="-15" dirty="0">
                <a:solidFill>
                  <a:srgbClr val="334155"/>
                </a:solidFill>
                <a:latin typeface="PingFang SC Light"/>
                <a:cs typeface="PingFang SC Light"/>
              </a:rPr>
              <a:t> 引擎。</a:t>
            </a: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联调即时通讯双向收发。</a:t>
            </a:r>
            <a:endParaRPr sz="1100">
              <a:latin typeface="PingFang SC Light"/>
              <a:cs typeface="PingFang SC Light"/>
            </a:endParaRPr>
          </a:p>
          <a:p>
            <a:pPr marL="853440" marR="5080" indent="-841375">
              <a:lnSpc>
                <a:spcPct val="102000"/>
              </a:lnSpc>
            </a:pP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完成⽂件上传云盘系统的功能整</a:t>
            </a:r>
            <a:r>
              <a:rPr sz="1100" spc="-25" dirty="0">
                <a:solidFill>
                  <a:srgbClr val="334155"/>
                </a:solidFill>
                <a:latin typeface="PingFang SC Light"/>
                <a:cs typeface="PingFang SC Light"/>
              </a:rPr>
              <a:t>合。</a:t>
            </a:r>
            <a:endParaRPr sz="1100">
              <a:latin typeface="PingFang SC Light"/>
              <a:cs typeface="PingFang SC Light"/>
            </a:endParaRPr>
          </a:p>
        </p:txBody>
      </p:sp>
      <p:sp>
        <p:nvSpPr>
          <p:cNvPr id="10" name="object 10"/>
          <p:cNvSpPr txBox="1"/>
          <p:nvPr>
            <p:custDataLst>
              <p:tags r:id="rId8"/>
            </p:custDataLst>
          </p:nvPr>
        </p:nvSpPr>
        <p:spPr>
          <a:xfrm>
            <a:off x="6517129" y="4361179"/>
            <a:ext cx="202565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B"/>
                </a:solidFill>
                <a:latin typeface="Lantinghei SC Heavy"/>
                <a:cs typeface="Lantinghei SC Heavy"/>
              </a:rPr>
              <a:t>第 </a:t>
            </a:r>
            <a:r>
              <a:rPr sz="1500" b="1" spc="19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5-</a:t>
            </a:r>
            <a:r>
              <a:rPr sz="1500" b="1" spc="17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1500" b="1" spc="-1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E293B"/>
                </a:solidFill>
                <a:latin typeface="Lantinghei SC Heavy"/>
                <a:cs typeface="Lantinghei SC Heavy"/>
              </a:rPr>
              <a:t>周</a:t>
            </a:r>
            <a:endParaRPr sz="1500">
              <a:latin typeface="Lantinghei SC Heavy"/>
              <a:cs typeface="Lantinghei SC Heavy"/>
            </a:endParaRPr>
          </a:p>
          <a:p>
            <a:pPr marR="29845" algn="ctr">
              <a:lnSpc>
                <a:spcPct val="100000"/>
              </a:lnSpc>
            </a:pPr>
            <a:r>
              <a:rPr sz="1500" b="1" dirty="0">
                <a:solidFill>
                  <a:srgbClr val="64738B"/>
                </a:solidFill>
                <a:latin typeface="Times New Roman" panose="02020603050405020304"/>
                <a:cs typeface="Times New Roman" panose="02020603050405020304"/>
              </a:rPr>
              <a:t>AI</a:t>
            </a:r>
            <a:r>
              <a:rPr sz="1500" b="1" spc="45" dirty="0">
                <a:solidFill>
                  <a:srgbClr val="64738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10" dirty="0">
                <a:solidFill>
                  <a:srgbClr val="64738B"/>
                </a:solidFill>
                <a:latin typeface="Lantinghei SC Heavy"/>
                <a:cs typeface="Lantinghei SC Heavy"/>
              </a:rPr>
              <a:t>亮点与壁垒攻坚</a:t>
            </a:r>
            <a:endParaRPr sz="1500">
              <a:latin typeface="Lantinghei SC Heavy"/>
              <a:cs typeface="Lantinghei SC Heavy"/>
            </a:endParaRPr>
          </a:p>
          <a:p>
            <a:pPr marL="327660">
              <a:lnSpc>
                <a:spcPct val="100000"/>
              </a:lnSpc>
              <a:spcBef>
                <a:spcPts val="1390"/>
              </a:spcBef>
            </a:pPr>
            <a:r>
              <a:rPr sz="1100" spc="-15" dirty="0">
                <a:solidFill>
                  <a:srgbClr val="334155"/>
                </a:solidFill>
                <a:latin typeface="PingFang SC Light"/>
                <a:cs typeface="PingFang SC Light"/>
              </a:rPr>
              <a:t>完成</a:t>
            </a:r>
            <a:r>
              <a:rPr sz="1100" spc="-15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spc="-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sz="1100" spc="-25" dirty="0">
                <a:solidFill>
                  <a:srgbClr val="334155"/>
                </a:solidFill>
                <a:latin typeface="PingFang SC Light"/>
                <a:cs typeface="PingFang SC Light"/>
              </a:rPr>
              <a:t> 模块对接。</a:t>
            </a:r>
            <a:endParaRPr sz="1100">
              <a:latin typeface="PingFang SC Light"/>
              <a:cs typeface="PingFang SC Light"/>
            </a:endParaRPr>
          </a:p>
          <a:p>
            <a:pPr marL="12700" marR="5080" indent="142875">
              <a:lnSpc>
                <a:spcPct val="102000"/>
              </a:lnSpc>
            </a:pPr>
            <a:r>
              <a:rPr sz="1100" spc="20" dirty="0">
                <a:solidFill>
                  <a:srgbClr val="334155"/>
                </a:solidFill>
                <a:latin typeface="PingFang SC Light"/>
                <a:cs typeface="PingFang SC Light"/>
              </a:rPr>
              <a:t>本地⽂档向量化存储跑通。</a:t>
            </a:r>
            <a:r>
              <a:rPr sz="1100" spc="5" dirty="0">
                <a:solidFill>
                  <a:srgbClr val="334155"/>
                </a:solidFill>
                <a:latin typeface="PingFang SC Light"/>
                <a:cs typeface="PingFang SC Light"/>
              </a:rPr>
              <a:t> </a:t>
            </a:r>
            <a:r>
              <a:rPr sz="1100" spc="20" dirty="0">
                <a:solidFill>
                  <a:srgbClr val="334155"/>
                </a:solidFill>
                <a:latin typeface="PingFang SC Light"/>
                <a:cs typeface="PingFang SC Light"/>
              </a:rPr>
              <a:t>打通⾃然语⾔问答交互，进⾏多</a:t>
            </a:r>
            <a:endParaRPr sz="1100">
              <a:latin typeface="PingFang SC Light"/>
              <a:cs typeface="PingFang SC Light"/>
            </a:endParaRPr>
          </a:p>
          <a:p>
            <a:pPr marL="353695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模块代码重构整合。</a:t>
            </a:r>
            <a:endParaRPr sz="1100">
              <a:latin typeface="PingFang SC Light"/>
              <a:cs typeface="PingFang SC Light"/>
            </a:endParaRPr>
          </a:p>
        </p:txBody>
      </p:sp>
      <p:sp>
        <p:nvSpPr>
          <p:cNvPr id="11" name="object 11"/>
          <p:cNvSpPr txBox="1"/>
          <p:nvPr>
            <p:custDataLst>
              <p:tags r:id="rId9"/>
            </p:custDataLst>
          </p:nvPr>
        </p:nvSpPr>
        <p:spPr>
          <a:xfrm>
            <a:off x="9353049" y="4361179"/>
            <a:ext cx="2025650" cy="134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B"/>
                </a:solidFill>
                <a:latin typeface="Lantinghei SC Heavy"/>
                <a:cs typeface="Lantinghei SC Heavy"/>
              </a:rPr>
              <a:t>第 </a:t>
            </a:r>
            <a:r>
              <a:rPr sz="1500" b="1" spc="13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7-</a:t>
            </a:r>
            <a:r>
              <a:rPr sz="1500" b="1" spc="180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500" b="1" spc="-25" dirty="0">
                <a:solidFill>
                  <a:srgbClr val="1E29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E293B"/>
                </a:solidFill>
                <a:latin typeface="Lantinghei SC Heavy"/>
                <a:cs typeface="Lantinghei SC Heavy"/>
              </a:rPr>
              <a:t>周</a:t>
            </a:r>
            <a:endParaRPr sz="1500">
              <a:latin typeface="Lantinghei SC Heavy"/>
              <a:cs typeface="Lantinghei SC Heavy"/>
            </a:endParaRPr>
          </a:p>
          <a:p>
            <a:pPr marR="47625" algn="ctr">
              <a:lnSpc>
                <a:spcPct val="100000"/>
              </a:lnSpc>
            </a:pPr>
            <a:r>
              <a:rPr sz="1500" b="1" spc="5" dirty="0">
                <a:solidFill>
                  <a:srgbClr val="64738B"/>
                </a:solidFill>
                <a:latin typeface="Lantinghei SC Heavy"/>
                <a:cs typeface="Lantinghei SC Heavy"/>
              </a:rPr>
              <a:t>测试验收与交付</a:t>
            </a:r>
            <a:endParaRPr sz="1500">
              <a:latin typeface="Lantinghei SC Heavy"/>
              <a:cs typeface="Lantinghei SC Heavy"/>
            </a:endParaRPr>
          </a:p>
          <a:p>
            <a:pPr marL="226695" marR="219075" indent="126365">
              <a:lnSpc>
                <a:spcPct val="102000"/>
              </a:lnSpc>
              <a:spcBef>
                <a:spcPts val="1360"/>
              </a:spcBef>
            </a:pPr>
            <a:r>
              <a:rPr sz="110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接⼝压⼒测试调优。</a:t>
            </a:r>
            <a:r>
              <a:rPr sz="1100" spc="500" dirty="0">
                <a:solidFill>
                  <a:srgbClr val="334155"/>
                </a:solidFill>
                <a:latin typeface="PingFang SC Light"/>
                <a:cs typeface="PingFang SC Light"/>
              </a:rPr>
              <a:t> </a:t>
            </a: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完成云服务器⽣产部署。</a:t>
            </a:r>
            <a:endParaRPr sz="1100">
              <a:latin typeface="PingFang SC Light"/>
              <a:cs typeface="PingFang SC Light"/>
            </a:endParaRPr>
          </a:p>
          <a:p>
            <a:pPr marL="353695" marR="5080" indent="-341630">
              <a:lnSpc>
                <a:spcPct val="102000"/>
              </a:lnSpc>
            </a:pPr>
            <a:r>
              <a:rPr sz="1100" spc="-5" dirty="0">
                <a:solidFill>
                  <a:srgbClr val="334155"/>
                </a:solidFill>
                <a:latin typeface="PingFang SC Light"/>
                <a:cs typeface="PingFang SC Light"/>
              </a:rPr>
              <a:t>撰写项⽬规范报告⽂档及演⽰视</a:t>
            </a:r>
            <a:r>
              <a:rPr sz="1100" spc="-10" dirty="0">
                <a:solidFill>
                  <a:srgbClr val="334155"/>
                </a:solidFill>
                <a:latin typeface="PingFang SC Light"/>
                <a:cs typeface="PingFang SC Light"/>
              </a:rPr>
              <a:t>频，迎来结题审查。</a:t>
            </a:r>
            <a:endParaRPr sz="1100">
              <a:latin typeface="PingFang SC Light"/>
              <a:cs typeface="PingFang SC Light"/>
            </a:endParaRPr>
          </a:p>
        </p:txBody>
      </p:sp>
      <p:pic>
        <p:nvPicPr>
          <p:cNvPr id="14" name="object 14"/>
          <p:cNvPicPr/>
          <p:nvPr>
            <p:custDataLst>
              <p:tags r:id="rId10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1727819" y="4900611"/>
            <a:ext cx="228599" cy="228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>
            <p:custDataLst>
              <p:tags r:id="rId1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193675" y="1470979"/>
            <a:ext cx="3846943" cy="4810124"/>
          </a:xfrm>
          <a:prstGeom prst="rect">
            <a:avLst/>
          </a:prstGeom>
        </p:spPr>
      </p:pic>
      <p:pic>
        <p:nvPicPr>
          <p:cNvPr id="3" name="object 3"/>
          <p:cNvPicPr/>
          <p:nvPr>
            <p:custDataLst>
              <p:tags r:id="rId2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8133180" y="1470979"/>
            <a:ext cx="3865145" cy="4810124"/>
          </a:xfrm>
          <a:prstGeom prst="rect">
            <a:avLst/>
          </a:prstGeom>
        </p:spPr>
      </p:pic>
      <p:sp>
        <p:nvSpPr>
          <p:cNvPr id="6" name="object 6"/>
          <p:cNvSpPr txBox="1"/>
          <p:nvPr>
            <p:custDataLst>
              <p:tags r:id="rId3"/>
            </p:custDataLst>
          </p:nvPr>
        </p:nvSpPr>
        <p:spPr>
          <a:xfrm>
            <a:off x="561976" y="1905192"/>
            <a:ext cx="3208076" cy="156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spcBef>
                <a:spcPts val="100"/>
              </a:spcBef>
            </a:pPr>
            <a:r>
              <a:rPr lang="zh-CN" altLang="en-US" sz="165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技术</a:t>
            </a:r>
            <a:r>
              <a:rPr lang="zh-CN" altLang="en-US" sz="160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集成与</a:t>
            </a:r>
            <a:r>
              <a:rPr lang="en-US" altLang="zh-CN" sz="160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RAG</a:t>
            </a:r>
            <a:r>
              <a:rPr lang="zh-CN" altLang="en-US" sz="1600" b="1" spc="-75" dirty="0">
                <a:solidFill>
                  <a:srgbClr val="EE4444"/>
                </a:solidFill>
                <a:latin typeface="Lantinghei SC Heavy"/>
                <a:cs typeface="Lantinghei SC Heavy"/>
              </a:rPr>
              <a:t>实现风险</a:t>
            </a:r>
            <a:endParaRPr lang="zh-CN" altLang="en-US" sz="1600" dirty="0">
              <a:effectLst/>
            </a:endParaRPr>
          </a:p>
          <a:p>
            <a:pPr marL="270510">
              <a:lnSpc>
                <a:spcPct val="100000"/>
              </a:lnSpc>
              <a:spcBef>
                <a:spcPts val="100"/>
              </a:spcBef>
            </a:pPr>
            <a:endParaRPr lang="zh-CN" altLang="en-US" sz="1650" dirty="0">
              <a:latin typeface="Lantinghei SC Heavy"/>
              <a:cs typeface="Lantinghei SC Heavy"/>
            </a:endParaRPr>
          </a:p>
          <a:p>
            <a:pPr marL="12700" marR="5080">
              <a:lnSpc>
                <a:spcPct val="160000"/>
              </a:lnSpc>
              <a:spcBef>
                <a:spcPts val="300"/>
              </a:spcBef>
            </a:pPr>
            <a:r>
              <a:rPr sz="135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⻛</a:t>
            </a:r>
            <a:r>
              <a:rPr lang="zh-CN" altLang="en-US" sz="1350" b="1" spc="-5" dirty="0">
                <a:solidFill>
                  <a:srgbClr val="334155"/>
                </a:solidFill>
                <a:latin typeface="Hiragino Sans GB W6"/>
                <a:cs typeface="Hiragino Sans GB W6"/>
              </a:rPr>
              <a:t>险描述：</a:t>
            </a:r>
            <a:r>
              <a:rPr sz="1350" spc="-1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r>
              <a:rPr sz="1350" spc="-60" dirty="0">
                <a:solidFill>
                  <a:srgbClr val="334155"/>
                </a:solidFill>
                <a:latin typeface="PingFang SC Light"/>
                <a:cs typeface="PingFang SC Light"/>
              </a:rPr>
              <a:t> </a:t>
            </a:r>
            <a:r>
              <a:rPr lang="zh-CN" altLang="en-US" sz="1350" spc="-60" dirty="0">
                <a:solidFill>
                  <a:srgbClr val="334155"/>
                </a:solidFill>
                <a:latin typeface="PingFang SC Light"/>
                <a:cs typeface="PingFang SC Light"/>
              </a:rPr>
              <a:t>即时通讯、文件共享与</a:t>
            </a:r>
            <a:r>
              <a:rPr lang="en-US" altLang="zh-CN" sz="1350" spc="-6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lang="zh-CN" altLang="en-US" sz="1350" spc="-60" dirty="0">
                <a:solidFill>
                  <a:srgbClr val="334155"/>
                </a:solidFill>
                <a:latin typeface="PingFang SC Light"/>
                <a:cs typeface="PingFang SC Light"/>
              </a:rPr>
              <a:t>智能问答模块集成时，容易出现性能瓶颈、接口不兼容或系统不稳定</a:t>
            </a:r>
            <a:r>
              <a:rPr sz="1350" spc="-25" dirty="0">
                <a:solidFill>
                  <a:srgbClr val="334155"/>
                </a:solidFill>
                <a:latin typeface="PingFang SC Light"/>
                <a:cs typeface="PingFang SC Light"/>
              </a:rPr>
              <a:t>。</a:t>
            </a:r>
            <a:endParaRPr sz="1350" dirty="0">
              <a:latin typeface="PingFang SC Light"/>
              <a:cs typeface="PingFang SC Light"/>
            </a:endParaRPr>
          </a:p>
        </p:txBody>
      </p: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8288755" y="1905192"/>
            <a:ext cx="3248563" cy="1531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zh-CN" altLang="en-US" sz="1650" b="1" spc="-50" dirty="0">
                <a:solidFill>
                  <a:srgbClr val="F49E0B"/>
                </a:solidFill>
                <a:latin typeface="Lantinghei SC Heavy"/>
                <a:cs typeface="Lantinghei SC Heavy"/>
              </a:rPr>
              <a:t>数据安全与隐私风险</a:t>
            </a:r>
            <a:endParaRPr lang="en-US" altLang="zh-CN" sz="1650" b="1" spc="-50" dirty="0">
              <a:solidFill>
                <a:srgbClr val="F49E0B"/>
              </a:solidFill>
              <a:latin typeface="Lantinghei SC Heavy"/>
              <a:cs typeface="Lantinghei SC Heavy"/>
            </a:endParaRPr>
          </a:p>
          <a:p>
            <a:pPr marL="270510">
              <a:lnSpc>
                <a:spcPct val="100000"/>
              </a:lnSpc>
              <a:spcBef>
                <a:spcPts val="100"/>
              </a:spcBef>
            </a:pPr>
            <a:endParaRPr sz="1650" dirty="0">
              <a:latin typeface="Lantinghei SC Heavy"/>
              <a:cs typeface="Lantinghei SC Heavy"/>
            </a:endParaRPr>
          </a:p>
          <a:p>
            <a:pPr marL="12700" marR="5080">
              <a:lnSpc>
                <a:spcPct val="160000"/>
              </a:lnSpc>
              <a:spcBef>
                <a:spcPts val="300"/>
              </a:spcBef>
            </a:pPr>
            <a:r>
              <a:rPr lang="zh-CN" altLang="en-US" sz="1350" b="1" dirty="0">
                <a:solidFill>
                  <a:srgbClr val="334155"/>
                </a:solidFill>
                <a:latin typeface="Hiragino Sans GB W6"/>
                <a:cs typeface="Hiragino Sans GB W6"/>
              </a:rPr>
              <a:t>风险描述</a:t>
            </a:r>
            <a:r>
              <a:rPr sz="1350" b="1" dirty="0">
                <a:solidFill>
                  <a:srgbClr val="334155"/>
                </a:solidFill>
                <a:latin typeface="Hiragino Sans GB W6"/>
                <a:cs typeface="Hiragino Sans GB W6"/>
              </a:rPr>
              <a:t>：</a:t>
            </a:r>
            <a:r>
              <a:rPr lang="zh-CN" altLang="en-US" sz="1350" spc="-20" dirty="0">
                <a:solidFill>
                  <a:srgbClr val="334155"/>
                </a:solidFill>
                <a:latin typeface="PingFang SC Light"/>
                <a:cs typeface="PingFang SC Light"/>
              </a:rPr>
              <a:t>系统涉及文件共享和用户数据管理，如果权限控制不当，可能导致数据泄漏或越权访问问题。</a:t>
            </a:r>
            <a:endParaRPr sz="1350" dirty="0">
              <a:latin typeface="PingFang SC Light"/>
              <a:cs typeface="PingFang SC Light"/>
            </a:endParaRPr>
          </a:p>
        </p:txBody>
      </p:sp>
      <p:pic>
        <p:nvPicPr>
          <p:cNvPr id="8" name="object 8"/>
          <p:cNvPicPr/>
          <p:nvPr>
            <p:custDataLst>
              <p:tags r:id="rId5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460374" y="1905192"/>
            <a:ext cx="227553" cy="251586"/>
          </a:xfrm>
          <a:prstGeom prst="rect">
            <a:avLst/>
          </a:prstGeom>
        </p:spPr>
      </p:pic>
      <p:pic>
        <p:nvPicPr>
          <p:cNvPr id="9" name="object 9"/>
          <p:cNvPicPr/>
          <p:nvPr>
            <p:custDataLst>
              <p:tags r:id="rId6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8288755" y="1905192"/>
            <a:ext cx="180986" cy="2095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51212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70" dirty="0">
                <a:latin typeface="LANTINGHEI SC HEAVY" panose="02000000000000000000" pitchFamily="2" charset="-122"/>
                <a:ea typeface="LANTINGHEI SC HEAVY" panose="02000000000000000000" pitchFamily="2" charset="-122"/>
                <a:cs typeface="Lantinghei SC Heavy"/>
              </a:rPr>
              <a:t>核心风险识别和管控对策</a:t>
            </a:r>
            <a:endParaRPr spc="70" dirty="0">
              <a:latin typeface="LANTINGHEI SC HEAVY" panose="02000000000000000000" pitchFamily="2" charset="-122"/>
              <a:ea typeface="LANTINGHEI SC HEAVY" panose="02000000000000000000" pitchFamily="2" charset="-122"/>
              <a:cs typeface="Lantinghei SC Heavy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513107" y="4666583"/>
            <a:ext cx="3376267" cy="10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070C0"/>
                </a:solidFill>
              </a:rPr>
              <a:t>最小化管控方案：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采用MVP策略，先完成基础功能（任务管理 + 即时通讯 + 文件共享</a:t>
            </a: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再并行开发RAG模块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使用成熟开源框架，并进行严格的集成测试和单元测试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endParaRPr kumimoji="0" lang="zh-CN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object 3"/>
          <p:cNvPicPr/>
          <p:nvPr>
            <p:custDataLst>
              <p:tags r:id="rId8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4194167" y="1470979"/>
            <a:ext cx="3787769" cy="4810124"/>
          </a:xfrm>
          <a:prstGeom prst="rect">
            <a:avLst/>
          </a:prstGeom>
        </p:spPr>
      </p:pic>
      <p:sp>
        <p:nvSpPr>
          <p:cNvPr id="18" name="object 7"/>
          <p:cNvSpPr txBox="1"/>
          <p:nvPr>
            <p:custDataLst>
              <p:tags r:id="rId9"/>
            </p:custDataLst>
          </p:nvPr>
        </p:nvSpPr>
        <p:spPr>
          <a:xfrm>
            <a:off x="4310486" y="1905192"/>
            <a:ext cx="3362326" cy="156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zh-CN" altLang="en-US" sz="1650" b="1" spc="-50" dirty="0">
                <a:solidFill>
                  <a:srgbClr val="F49E0B"/>
                </a:solidFill>
                <a:latin typeface="Lantinghei SC Heavy"/>
                <a:cs typeface="Lantinghei SC Heavy"/>
              </a:rPr>
              <a:t>项目进度延期风险</a:t>
            </a:r>
            <a:endParaRPr lang="en-US" sz="1650" b="1" spc="-50" dirty="0">
              <a:solidFill>
                <a:srgbClr val="F49E0B"/>
              </a:solidFill>
              <a:latin typeface="Lantinghei SC Heavy"/>
              <a:cs typeface="Lantinghei SC Heavy"/>
            </a:endParaRPr>
          </a:p>
          <a:p>
            <a:pPr marL="270510">
              <a:lnSpc>
                <a:spcPct val="100000"/>
              </a:lnSpc>
              <a:spcBef>
                <a:spcPts val="100"/>
              </a:spcBef>
            </a:pPr>
            <a:endParaRPr sz="1650" dirty="0">
              <a:latin typeface="Lantinghei SC Heavy"/>
              <a:cs typeface="Lantinghei SC Heavy"/>
            </a:endParaRPr>
          </a:p>
          <a:p>
            <a:pPr marL="12700" marR="5080">
              <a:lnSpc>
                <a:spcPct val="160000"/>
              </a:lnSpc>
              <a:spcBef>
                <a:spcPts val="300"/>
              </a:spcBef>
            </a:pPr>
            <a:r>
              <a:rPr sz="1350" b="1" dirty="0">
                <a:solidFill>
                  <a:srgbClr val="334155"/>
                </a:solidFill>
                <a:latin typeface="Hiragino Sans GB W6"/>
                <a:cs typeface="Hiragino Sans GB W6"/>
              </a:rPr>
              <a:t>⻛险描述：</a:t>
            </a:r>
            <a:r>
              <a:rPr sz="1350" spc="-20" dirty="0">
                <a:solidFill>
                  <a:srgbClr val="334155"/>
                </a:solidFill>
                <a:latin typeface="PingFang SC Light"/>
                <a:cs typeface="PingFang SC Light"/>
              </a:rPr>
              <a:t>开发周期受限（8周），</a:t>
            </a:r>
            <a:r>
              <a:rPr sz="1350" spc="-30" dirty="0">
                <a:solidFill>
                  <a:srgbClr val="334155"/>
                </a:solidFill>
                <a:latin typeface="PingFang SC Light"/>
                <a:cs typeface="PingFang SC Light"/>
              </a:rPr>
              <a:t>如果团队在⾼阶 </a:t>
            </a:r>
            <a:r>
              <a:rPr sz="135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1350" spc="-45" dirty="0">
                <a:solidFill>
                  <a:srgbClr val="334155"/>
                </a:solidFill>
                <a:latin typeface="PingFang SC Light"/>
                <a:cs typeface="PingFang SC Light"/>
              </a:rPr>
              <a:t> 功能</a:t>
            </a:r>
            <a:r>
              <a:rPr sz="1350" spc="-5" dirty="0">
                <a:solidFill>
                  <a:srgbClr val="334155"/>
                </a:solidFill>
                <a:latin typeface="PingFang SC Light"/>
                <a:cs typeface="PingFang SC Light"/>
              </a:rPr>
              <a:t>上过度陷⼊技术细节，可能导致⽆法按时交付可运⾏版本。</a:t>
            </a:r>
            <a:endParaRPr sz="1350" dirty="0">
              <a:latin typeface="PingFang SC Light"/>
              <a:cs typeface="PingFang SC Light"/>
            </a:endParaRPr>
          </a:p>
        </p:txBody>
      </p:sp>
      <p:pic>
        <p:nvPicPr>
          <p:cNvPr id="19" name="object 9"/>
          <p:cNvPicPr/>
          <p:nvPr>
            <p:custDataLst>
              <p:tags r:id="rId10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4310486" y="1905192"/>
            <a:ext cx="187324" cy="209549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4310486" y="4666583"/>
            <a:ext cx="3376267" cy="82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070C0"/>
                </a:solidFill>
              </a:rPr>
              <a:t>最小化管控方案：</a:t>
            </a:r>
            <a:r>
              <a:rPr lang="zh-CN" altLang="en-US" sz="1100" dirty="0">
                <a:effectLst/>
              </a:rPr>
              <a:t>严格执行敏捷开发，每</a:t>
            </a:r>
            <a:r>
              <a:rPr lang="en-US" altLang="zh-CN" sz="1100" dirty="0">
                <a:effectLst/>
              </a:rPr>
              <a:t>2</a:t>
            </a:r>
            <a:r>
              <a:rPr lang="zh-CN" altLang="en-US" sz="1100" dirty="0">
                <a:effectLst/>
              </a:rPr>
              <a:t>周一个迭代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r>
              <a:rPr lang="zh-CN" altLang="en-US" sz="1100" dirty="0">
                <a:effectLst/>
              </a:rPr>
              <a:t>基础</a:t>
            </a:r>
            <a:r>
              <a:rPr lang="en-GB" altLang="zh-CN" sz="1100" dirty="0">
                <a:effectLst/>
              </a:rPr>
              <a:t>MVP</a:t>
            </a:r>
            <a:r>
              <a:rPr lang="zh-CN" altLang="en-US" sz="1100" dirty="0">
                <a:effectLst/>
              </a:rPr>
              <a:t>必须在第</a:t>
            </a:r>
            <a:r>
              <a:rPr lang="en-US" altLang="zh-CN" sz="1100" dirty="0">
                <a:effectLst/>
              </a:rPr>
              <a:t>4</a:t>
            </a:r>
            <a:r>
              <a:rPr lang="zh-CN" altLang="en-US" sz="1100" dirty="0">
                <a:effectLst/>
              </a:rPr>
              <a:t>周前完成</a:t>
            </a:r>
            <a:r>
              <a:rPr lang="zh-CN" altLang="en-US" sz="1100" dirty="0"/>
              <a:t>；</a:t>
            </a:r>
            <a:r>
              <a:rPr lang="en-GB" altLang="zh-CN" sz="1100" dirty="0">
                <a:effectLst/>
              </a:rPr>
              <a:t>RAG</a:t>
            </a:r>
            <a:r>
              <a:rPr lang="zh-CN" altLang="en-US" sz="1100" dirty="0">
                <a:effectLst/>
              </a:rPr>
              <a:t>作为增强功能逐步加入，每周团队同步进度</a:t>
            </a:r>
            <a:r>
              <a:rPr lang="zh-CN" altLang="en-US" sz="1100" dirty="0"/>
              <a:t>。</a:t>
            </a:r>
            <a:endParaRPr lang="zh-CN" altLang="en-US" sz="1100" dirty="0">
              <a:effectLst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8288755" y="4666583"/>
            <a:ext cx="3376267" cy="107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070C0"/>
                </a:solidFill>
              </a:rPr>
              <a:t>最小化管控方案：</a:t>
            </a:r>
            <a:r>
              <a:rPr lang="zh-CN" altLang="en-US" sz="1100" dirty="0">
                <a:effectLst/>
              </a:rPr>
              <a:t>采用</a:t>
            </a:r>
            <a:r>
              <a:rPr lang="en-GB" altLang="zh-CN" sz="1100" dirty="0">
                <a:effectLst/>
              </a:rPr>
              <a:t>JWT</a:t>
            </a:r>
            <a:r>
              <a:rPr lang="zh-CN" altLang="en-US" sz="1100" dirty="0">
                <a:effectLst/>
              </a:rPr>
              <a:t>身份认证与角色权限控制</a:t>
            </a:r>
            <a:r>
              <a:rPr lang="zh-CN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；</a:t>
            </a:r>
            <a:r>
              <a:rPr lang="zh-CN" altLang="en-US" sz="1100" dirty="0">
                <a:effectLst/>
              </a:rPr>
              <a:t>对文件访问进行细粒度权限校验</a:t>
            </a:r>
            <a:r>
              <a:rPr lang="zh-CN" altLang="en-US" sz="1100" dirty="0"/>
              <a:t>；</a:t>
            </a:r>
            <a:r>
              <a:rPr lang="zh-CN" altLang="en-US" sz="1100" dirty="0">
                <a:effectLst/>
              </a:rPr>
              <a:t>所有数据传输使用</a:t>
            </a:r>
            <a:r>
              <a:rPr lang="en-GB" altLang="zh-CN" sz="1100" dirty="0">
                <a:effectLst/>
              </a:rPr>
              <a:t>HTTPS</a:t>
            </a:r>
            <a:r>
              <a:rPr lang="zh-CN" altLang="en-US" sz="1100" dirty="0">
                <a:effectLst/>
              </a:rPr>
              <a:t>加密</a:t>
            </a:r>
            <a:r>
              <a:rPr lang="zh-CN" altLang="en-US" sz="1100" dirty="0"/>
              <a:t>；</a:t>
            </a:r>
            <a:r>
              <a:rPr lang="en-GB" altLang="zh-CN" sz="1100" dirty="0">
                <a:effectLst/>
              </a:rPr>
              <a:t>RAG</a:t>
            </a:r>
            <a:r>
              <a:rPr lang="zh-CN" altLang="en-US" sz="1100" dirty="0">
                <a:effectLst/>
              </a:rPr>
              <a:t>检索仅基于加密元数据，不直接暴露原始文件内容</a:t>
            </a:r>
            <a:r>
              <a:rPr lang="zh-CN" altLang="en-US" sz="1100" dirty="0"/>
              <a:t>。</a:t>
            </a:r>
            <a:endParaRPr lang="zh-CN" altLang="en-US" sz="1100" dirty="0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476375"/>
            <a:ext cx="11048999" cy="483081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11945"/>
              </p:ext>
            </p:extLst>
          </p:nvPr>
        </p:nvGraphicFramePr>
        <p:xfrm>
          <a:off x="581025" y="1485900"/>
          <a:ext cx="11030584" cy="536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tabLst>
                          <a:tab pos="2262505" algn="l"/>
                        </a:tabLst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评估维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度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	现有⾃主研发⽅案</a:t>
                      </a:r>
                      <a:r>
                        <a:rPr sz="1500" b="1" spc="-155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(</a:t>
                      </a:r>
                      <a:r>
                        <a:rPr sz="1500" b="1" spc="-3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轻量</a:t>
                      </a:r>
                      <a:r>
                        <a:rPr sz="1500" b="1" spc="-15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 </a:t>
                      </a:r>
                      <a:r>
                        <a:rPr sz="1500" b="1" spc="-18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MVP</a:t>
                      </a:r>
                      <a:r>
                        <a:rPr sz="1500" b="1" spc="-15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 +</a:t>
                      </a:r>
                      <a:r>
                        <a:rPr sz="1500" b="1" spc="-155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AI)</a:t>
                      </a:r>
                      <a:endParaRPr sz="1500" dirty="0">
                        <a:latin typeface="Hiragino Sans GB W6"/>
                        <a:cs typeface="Hiragino Sans GB W6"/>
                      </a:endParaRPr>
                    </a:p>
                  </a:txBody>
                  <a:tcPr marL="0" marR="0" marT="13970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500" b="1" spc="-55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市场替代⽅案 (直接采购 钉钉/⻜书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Hiragino Sans GB W6"/>
                          <a:cs typeface="Hiragino Sans GB W6"/>
                        </a:rPr>
                        <a:t>SaaS)</a:t>
                      </a:r>
                      <a:endParaRPr sz="1500">
                        <a:latin typeface="Hiragino Sans GB W6"/>
                        <a:cs typeface="Hiragino Sans GB W6"/>
                      </a:endParaRPr>
                    </a:p>
                  </a:txBody>
                  <a:tcPr marL="0" marR="0" marT="139700" marB="0"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39700" marB="0"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005088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341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3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tabLst>
                          <a:tab pos="2262505" algn="l"/>
                          <a:tab pos="6673850" algn="l"/>
                        </a:tabLst>
                      </a:pPr>
                      <a:r>
                        <a:rPr lang="zh-CN" altLang="en-US"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系统复杂</a:t>
                      </a:r>
                      <a:r>
                        <a:rPr lang="zh-CN" altLang="en-US" sz="2025" b="1" spc="-75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度</a:t>
                      </a:r>
                      <a:r>
                        <a:rPr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	</a:t>
                      </a:r>
                      <a:endParaRPr lang="zh-CN" altLang="en-US" sz="1350" dirty="0">
                        <a:latin typeface="PingFang SC Light"/>
                        <a:cs typeface="PingFang SC Light"/>
                      </a:endParaRPr>
                    </a:p>
                  </a:txBody>
                  <a:tcPr marL="0" marR="0" marT="7112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71120" marB="0"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7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81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3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2505" marR="210820" indent="-2205990">
                        <a:lnSpc>
                          <a:spcPct val="100000"/>
                        </a:lnSpc>
                        <a:tabLst>
                          <a:tab pos="2262505" algn="l"/>
                          <a:tab pos="6673850" algn="l"/>
                        </a:tabLst>
                      </a:pPr>
                      <a:r>
                        <a:rPr lang="zh-CN" altLang="en-US"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知识资产与</a:t>
                      </a:r>
                      <a:r>
                        <a:rPr lang="en-US" altLang="zh-CN" sz="2025" b="1" baseline="-33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2025" b="1" baseline="-33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能力</a:t>
                      </a:r>
                      <a:r>
                        <a:rPr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	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PingFang SC Light"/>
                          <a:cs typeface="PingFang SC Light"/>
                        </a:rPr>
                        <a:t>	</a:t>
                      </a:r>
                      <a:endParaRPr sz="1350" dirty="0">
                        <a:latin typeface="PingFang SC Light"/>
                        <a:cs typeface="PingFang SC Light"/>
                      </a:endParaRPr>
                    </a:p>
                  </a:txBody>
                  <a:tcPr marL="0" marR="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B="0"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8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F7FA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95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3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2505" marR="60960" indent="-2205990">
                        <a:lnSpc>
                          <a:spcPct val="100000"/>
                        </a:lnSpc>
                        <a:tabLst>
                          <a:tab pos="2262505" algn="l"/>
                          <a:tab pos="6673850" algn="l"/>
                        </a:tabLst>
                      </a:pPr>
                      <a:r>
                        <a:rPr lang="zh-CN" altLang="en-US"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工程实现价值</a:t>
                      </a:r>
                      <a:r>
                        <a:rPr sz="2025" b="1" baseline="-33000" dirty="0">
                          <a:solidFill>
                            <a:srgbClr val="334155"/>
                          </a:solidFill>
                          <a:latin typeface="Hiragino Sans GB W6"/>
                          <a:cs typeface="Hiragino Sans GB W6"/>
                        </a:rPr>
                        <a:t>	</a:t>
                      </a:r>
                      <a:endParaRPr sz="1350" dirty="0">
                        <a:latin typeface="PingFang SC Light"/>
                        <a:cs typeface="PingFang SC Light"/>
                      </a:endParaRPr>
                    </a:p>
                  </a:txBody>
                  <a:tcPr marL="0" marR="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B="0"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0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2095">
                <a:tc gridSpan="2">
                  <a:txBody>
                    <a:bodyPr/>
                    <a:lstStyle/>
                    <a:p>
                      <a:endParaRPr lang="en-US" altLang="zh-CN" sz="1400" dirty="0">
                        <a:effectLst/>
                      </a:endParaRPr>
                    </a:p>
                    <a:p>
                      <a:r>
                        <a:rPr lang="zh-CN" altLang="en-US" sz="1400" dirty="0">
                          <a:effectLst/>
                        </a:rPr>
                        <a:t>自主研发方案在</a:t>
                      </a:r>
                      <a:r>
                        <a:rPr lang="zh-CN" altLang="en-US" sz="1400" b="1" dirty="0">
                          <a:effectLst/>
                        </a:rPr>
                        <a:t>功能聚焦度</a:t>
                      </a:r>
                      <a:r>
                        <a:rPr lang="zh-CN" altLang="en-US" sz="1400" dirty="0">
                          <a:effectLst/>
                        </a:rPr>
                        <a:t>、</a:t>
                      </a:r>
                      <a:r>
                        <a:rPr lang="en-GB" altLang="zh-CN" sz="1400" b="1" dirty="0">
                          <a:effectLst/>
                        </a:rPr>
                        <a:t>AI</a:t>
                      </a:r>
                      <a:r>
                        <a:rPr lang="zh-CN" altLang="en-US" sz="1400" b="1" dirty="0">
                          <a:effectLst/>
                        </a:rPr>
                        <a:t>深度定制</a:t>
                      </a:r>
                      <a:r>
                        <a:rPr lang="zh-CN" altLang="en-US" sz="1400" dirty="0">
                          <a:effectLst/>
                        </a:rPr>
                        <a:t>、以及</a:t>
                      </a:r>
                      <a:r>
                        <a:rPr lang="zh-CN" altLang="en-US" sz="1400" b="1" dirty="0">
                          <a:effectLst/>
                        </a:rPr>
                        <a:t>工程实践价值</a:t>
                      </a:r>
                      <a:r>
                        <a:rPr lang="zh-CN" altLang="en-US" sz="1400" dirty="0">
                          <a:effectLst/>
                        </a:rPr>
                        <a:t>上具有明显优势。我们通过</a:t>
                      </a:r>
                      <a:r>
                        <a:rPr lang="en-GB" altLang="zh-CN" sz="1400" dirty="0">
                          <a:effectLst/>
                        </a:rPr>
                        <a:t>MVP</a:t>
                      </a:r>
                      <a:r>
                        <a:rPr lang="zh-CN" altLang="en-US" sz="1400" dirty="0">
                          <a:effectLst/>
                        </a:rPr>
                        <a:t>策略和风险管控措施，能够在</a:t>
                      </a:r>
                      <a:r>
                        <a:rPr lang="en-US" altLang="zh-CN" sz="1400" dirty="0">
                          <a:effectLst/>
                        </a:rPr>
                        <a:t>8</a:t>
                      </a:r>
                      <a:r>
                        <a:rPr lang="zh-CN" altLang="en-US" sz="1400" dirty="0">
                          <a:effectLst/>
                        </a:rPr>
                        <a:t>周内交付一个</a:t>
                      </a:r>
                      <a:r>
                        <a:rPr lang="zh-CN" altLang="en-US" sz="1400" b="1" dirty="0">
                          <a:effectLst/>
                        </a:rPr>
                        <a:t>轻量</a:t>
                      </a:r>
                      <a:r>
                        <a:rPr lang="zh-CN" altLang="en-US" sz="1400" dirty="0">
                          <a:effectLst/>
                        </a:rPr>
                        <a:t>、</a:t>
                      </a:r>
                      <a:r>
                        <a:rPr lang="zh-CN" altLang="en-US" sz="1400" b="1" dirty="0">
                          <a:effectLst/>
                        </a:rPr>
                        <a:t>实用</a:t>
                      </a:r>
                      <a:r>
                        <a:rPr lang="zh-CN" altLang="en-US" sz="1400" dirty="0">
                          <a:effectLst/>
                        </a:rPr>
                        <a:t>、</a:t>
                      </a:r>
                      <a:r>
                        <a:rPr lang="zh-CN" altLang="en-US" sz="1400" b="1" dirty="0">
                          <a:effectLst/>
                        </a:rPr>
                        <a:t>带有智能问答助手</a:t>
                      </a:r>
                      <a:r>
                        <a:rPr lang="zh-CN" altLang="en-US" sz="1400" dirty="0">
                          <a:effectLst/>
                        </a:rPr>
                        <a:t>的团队协作平台，因此这是当前最适合我们的方案。</a:t>
                      </a:r>
                    </a:p>
                  </a:txBody>
                  <a:tcPr marL="0" marR="0" marT="18415" marB="0">
                    <a:solidFill>
                      <a:srgbClr val="F7FA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8800" y="576897"/>
            <a:ext cx="6278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>
                <a:latin typeface="Lantinghei SC Heavy"/>
                <a:cs typeface="Lantinghei SC Heavy"/>
              </a:rPr>
              <a:t>战略评估：现有方案 </a:t>
            </a:r>
            <a:r>
              <a:rPr spc="300" dirty="0"/>
              <a:t>vs</a:t>
            </a:r>
            <a:r>
              <a:rPr spc="-40" dirty="0"/>
              <a:t> </a:t>
            </a:r>
            <a:r>
              <a:rPr spc="20" dirty="0">
                <a:latin typeface="Lantinghei SC Heavy"/>
                <a:cs typeface="Lantinghei SC Heavy"/>
              </a:rPr>
              <a:t>市场替代方案</a:t>
            </a:r>
          </a:p>
        </p:txBody>
      </p:sp>
      <p:sp>
        <p:nvSpPr>
          <p:cNvPr id="8" name="object 8"/>
          <p:cNvSpPr/>
          <p:nvPr/>
        </p:nvSpPr>
        <p:spPr>
          <a:xfrm>
            <a:off x="571500" y="109537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099" y="380999"/>
                </a:moveTo>
                <a:lnTo>
                  <a:pt x="23269" y="378005"/>
                </a:lnTo>
                <a:lnTo>
                  <a:pt x="11159" y="369840"/>
                </a:lnTo>
                <a:lnTo>
                  <a:pt x="2994" y="357730"/>
                </a:lnTo>
                <a:lnTo>
                  <a:pt x="0" y="342899"/>
                </a:lnTo>
                <a:lnTo>
                  <a:pt x="0" y="38099"/>
                </a:lnTo>
                <a:lnTo>
                  <a:pt x="2994" y="23269"/>
                </a:lnTo>
                <a:lnTo>
                  <a:pt x="11159" y="11159"/>
                </a:lnTo>
                <a:lnTo>
                  <a:pt x="23269" y="2994"/>
                </a:lnTo>
                <a:lnTo>
                  <a:pt x="38099" y="0"/>
                </a:lnTo>
                <a:lnTo>
                  <a:pt x="45567" y="738"/>
                </a:lnTo>
                <a:lnTo>
                  <a:pt x="75461" y="30632"/>
                </a:lnTo>
                <a:lnTo>
                  <a:pt x="76199" y="38099"/>
                </a:lnTo>
                <a:lnTo>
                  <a:pt x="76199" y="342899"/>
                </a:lnTo>
                <a:lnTo>
                  <a:pt x="73205" y="357730"/>
                </a:lnTo>
                <a:lnTo>
                  <a:pt x="65040" y="369840"/>
                </a:lnTo>
                <a:lnTo>
                  <a:pt x="52930" y="378005"/>
                </a:lnTo>
                <a:lnTo>
                  <a:pt x="38099" y="380999"/>
                </a:lnTo>
                <a:close/>
              </a:path>
            </a:pathLst>
          </a:custGeom>
          <a:solidFill>
            <a:srgbClr val="11C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文本框 8"/>
          <p:cNvSpPr txBox="1"/>
          <p:nvPr/>
        </p:nvSpPr>
        <p:spPr>
          <a:xfrm>
            <a:off x="2819400" y="259080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功能聚焦，仅包含任务管理、即时通讯、文件共享和</a:t>
            </a:r>
            <a:r>
              <a:rPr kumimoji="1" lang="en-US" altLang="zh-CN" sz="1200" dirty="0"/>
              <a:t>RAG</a:t>
            </a:r>
            <a:r>
              <a:rPr kumimoji="1" lang="zh-CN" altLang="en-US" sz="1200" dirty="0"/>
              <a:t>智能问答，适合小型团队使用。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190509" y="2590800"/>
            <a:ext cx="442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effectLst/>
              </a:rPr>
              <a:t>功能非常全面，但包含大量与我们无关的模块（如人事考勤、打卡等），对小型团队过于复杂。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819400" y="3574703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effectLst/>
              </a:rPr>
              <a:t>与</a:t>
            </a:r>
            <a:r>
              <a:rPr lang="en-GB" altLang="zh-CN" sz="1200" dirty="0">
                <a:effectLst/>
              </a:rPr>
              <a:t>AI</a:t>
            </a:r>
            <a:r>
              <a:rPr lang="zh-CN" altLang="en-US" sz="1200" dirty="0">
                <a:effectLst/>
              </a:rPr>
              <a:t>能力原生集成</a:t>
            </a:r>
            <a:r>
              <a:rPr lang="en-GB" altLang="zh-CN" sz="1200" dirty="0">
                <a:effectLst/>
              </a:rPr>
              <a:t>RAG</a:t>
            </a:r>
            <a:r>
              <a:rPr lang="zh-CN" altLang="en-US" sz="1200" dirty="0">
                <a:effectLst/>
              </a:rPr>
              <a:t>智能问答，可基于团队自身文档进行自然语言检索，文档查找效率高。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200900" y="3574702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effectLst/>
              </a:rPr>
              <a:t>主要依赖传统目录搜索，高级</a:t>
            </a:r>
            <a:r>
              <a:rPr lang="en-GB" altLang="zh-CN" sz="1200" dirty="0">
                <a:effectLst/>
              </a:rPr>
              <a:t>AI</a:t>
            </a:r>
            <a:r>
              <a:rPr lang="zh-CN" altLang="en-US" sz="1200" dirty="0">
                <a:effectLst/>
              </a:rPr>
              <a:t>检索功能通常需要额外付费购买企业高级版。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98618" y="4558606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effectLst/>
              </a:rPr>
              <a:t>能让我们完整经历从需求分析、架构设计、编码实现到测试部署的全过程，工程实践价值高。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200900" y="4558604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effectLst/>
              </a:rPr>
              <a:t>开箱即用，无法锻炼团队的系统设计和代码实现能力，不符合本次软件工程实验课程目标。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6"/>
          <p:cNvSpPr txBox="1"/>
          <p:nvPr/>
        </p:nvSpPr>
        <p:spPr>
          <a:xfrm>
            <a:off x="4724400" y="2745479"/>
            <a:ext cx="37338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00"/>
              </a:spcBef>
            </a:pPr>
            <a:r>
              <a:rPr lang="en-US" altLang="zh-CN" sz="8800" b="1" spc="-75" dirty="0">
                <a:solidFill>
                  <a:srgbClr val="EE4444"/>
                </a:solidFill>
                <a:latin typeface="Lantinghei SC Heavy"/>
                <a:cs typeface="PingFang SC Light"/>
              </a:rPr>
              <a:t>Q&amp;A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VkOTQzMzQ0MDU0Nzc1ZDYxNGFjYTJiMGQ1NjA3N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3.0858267716536,&quot;left&quot;:43.46740157480315,&quot;top&quot;:116.25,&quot;width&quot;:872.554803149606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6436220472441,&quot;left&quot;:45,&quot;top&quot;:114,&quot;width&quot;:88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4.7748031496063,&quot;left&quot;:45,&quot;top&quot;:191.25,&quot;width&quot;:87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74992125984244,&quot;left&quot;:15.25,&quot;top&quot;:115.82511811023622,&quot;width&quot;:929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2017</Words>
  <Application>Microsoft Macintosh PowerPoint</Application>
  <PresentationFormat>宽屏</PresentationFormat>
  <Paragraphs>223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宋体</vt:lpstr>
      <vt:lpstr>Hiragino Sans GB W6</vt:lpstr>
      <vt:lpstr>Lantinghei SC Extralight</vt:lpstr>
      <vt:lpstr>Lantinghei SC Heavy</vt:lpstr>
      <vt:lpstr>Lantinghei SC Heavy</vt:lpstr>
      <vt:lpstr>PingFang SC Light</vt:lpstr>
      <vt:lpstr>Arial</vt:lpstr>
      <vt:lpstr>Calibri</vt:lpstr>
      <vt:lpstr>Times New Roman</vt:lpstr>
      <vt:lpstr>Office Theme</vt:lpstr>
      <vt:lpstr>灵犀 (LinkSee) —— 基于 RAG 的云端团队协作平台</vt:lpstr>
      <vt:lpstr>项目背景与核心价值 (痛点突破)</vt:lpstr>
      <vt:lpstr>技术可行性与业务范围框图</vt:lpstr>
      <vt:lpstr>利益相关者画像</vt:lpstr>
      <vt:lpstr>需求识别</vt:lpstr>
      <vt:lpstr>需求定义</vt:lpstr>
      <vt:lpstr>多种画像场景</vt:lpstr>
      <vt:lpstr>总用例图</vt:lpstr>
      <vt:lpstr>总用例图</vt:lpstr>
      <vt:lpstr>团队架构与敏捷容错管理</vt:lpstr>
      <vt:lpstr>团队架构与敏捷容错管理</vt:lpstr>
      <vt:lpstr>资源配置策略与经济可行性</vt:lpstr>
      <vt:lpstr>项目执行进度与交付里程碑</vt:lpstr>
      <vt:lpstr>核心风险识别和管控对策</vt:lpstr>
      <vt:lpstr>战略评估：现有方案 vs 市场替代方案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基于云端与AI增强的团队协作平台</dc:title>
  <dc:creator/>
  <cp:lastModifiedBy>睿涵 汪</cp:lastModifiedBy>
  <cp:revision>8</cp:revision>
  <dcterms:created xsi:type="dcterms:W3CDTF">2026-04-08T07:10:00Z</dcterms:created>
  <dcterms:modified xsi:type="dcterms:W3CDTF">2026-04-09T05:16:12Z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10637B2AE7AD40D5A453F2412421FBFC_13</vt:lpwstr>
  </property>
  <property fmtid="{D5CDD505-2E9C-101B-9397-08002B2CF9AE}" pid="4" name="KSOProductBuildVer">
    <vt:lpwstr>2052-12.1.0.16929</vt:lpwstr>
  </property>
</Properties>
</file>