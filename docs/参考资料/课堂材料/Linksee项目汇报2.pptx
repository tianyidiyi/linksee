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</p:sldMasterIdLst>
  <p:notesMasterIdLst>
    <p:notesMasterId r:id="rId22"/>
  </p:notesMasterIdLst>
  <p:sldIdLst>
    <p:sldId id="256" r:id="rId5"/>
    <p:sldId id="258" r:id="rId6"/>
    <p:sldId id="286" r:id="rId7"/>
    <p:sldId id="288" r:id="rId8"/>
    <p:sldId id="260" r:id="rId9"/>
    <p:sldId id="290" r:id="rId10"/>
    <p:sldId id="261" r:id="rId11"/>
    <p:sldId id="262" r:id="rId12"/>
    <p:sldId id="291" r:id="rId13"/>
    <p:sldId id="264" r:id="rId14"/>
    <p:sldId id="265" r:id="rId15"/>
    <p:sldId id="279" r:id="rId16"/>
    <p:sldId id="280" r:id="rId17"/>
    <p:sldId id="281" r:id="rId18"/>
    <p:sldId id="266" r:id="rId19"/>
    <p:sldId id="268" r:id="rId20"/>
    <p:sldId id="267" r:id="rId21"/>
  </p:sldIdLst>
  <p:sldSz cx="12192000" cy="6858000"/>
  <p:notesSz cx="6858000" cy="9144000"/>
  <p:custDataLst>
    <p:tags r:id="rId2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99" userDrawn="1">
          <p15:clr>
            <a:srgbClr val="747775"/>
          </p15:clr>
        </p15:guide>
        <p15:guide id="2" pos="285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030" autoAdjust="0"/>
  </p:normalViewPr>
  <p:slideViewPr>
    <p:cSldViewPr snapToGrid="0" showGuides="1">
      <p:cViewPr varScale="1">
        <p:scale>
          <a:sx n="71" d="100"/>
          <a:sy n="71" d="100"/>
        </p:scale>
        <p:origin x="1110" y="27"/>
      </p:cViewPr>
      <p:guideLst>
        <p:guide orient="horz" pos="1599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badi" panose="020F050202020403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badi" panose="020F0502020204030204" pitchFamily="34" charset="0"/>
              </a:defRPr>
            </a:lvl1pPr>
          </a:lstStyle>
          <a:p>
            <a:fld id="{B7268E1E-0E44-426D-905E-8AD9B19D2182}" type="datetimeFigureOut">
              <a:rPr lang="cs-CZ" smtClean="0"/>
              <a:pPr/>
              <a:t>30.04.2026</a:t>
            </a:fld>
            <a:endParaRPr lang="cs-C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badi" panose="020F050202020403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badi" panose="020F0502020204030204" pitchFamily="34" charset="0"/>
              </a:defRPr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badi" panose="020F050202020403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14818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 panose="020B060402020202020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 panose="020B0604020202020204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 panose="020B0604020202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 panose="020B0604020202020204"/>
              </a:rPr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 panose="020B060402020202020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 panose="020B0604020202020204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 panose="020B0604020202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 panose="020B0604020202020204"/>
              </a:rPr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 panose="020B060402020202020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 panose="020B0604020202020204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 panose="020B0604020202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 panose="020B0604020202020204"/>
              </a:rPr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异步写日志：日志产生后，放入内存，继续处理其他请求 由后台进程或其他程序进行日志写磁盘；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内存的考虑：认证计算、异步队列、状态管理和通信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Abadi" panose="020F0502020204030204" pitchFamily="34" charset="0"/>
                <a:ea typeface="+mn-ea"/>
                <a:cs typeface="+mn-cs"/>
              </a:rPr>
              <a:t>简单的基准测试。</a:t>
            </a:r>
            <a:endParaRPr lang="en-US" altLang="zh-CN" sz="1400" b="0" i="0" u="none" strike="noStrike" kern="1200" dirty="0">
              <a:solidFill>
                <a:schemeClr val="tx1"/>
              </a:solidFill>
              <a:effectLst/>
              <a:latin typeface="Abadi" panose="020F0502020204030204" pitchFamily="34" charset="0"/>
              <a:ea typeface="+mn-ea"/>
              <a:cs typeface="+mn-cs"/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 kern="1200" dirty="0">
              <a:solidFill>
                <a:schemeClr val="tx1"/>
              </a:solidFill>
              <a:effectLst/>
              <a:latin typeface="Abadi" panose="020F0502020204030204" pitchFamily="34" charset="0"/>
              <a:ea typeface="+mn-ea"/>
              <a:cs typeface="+mn-cs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Abadi" panose="020F0502020204030204" pitchFamily="34" charset="0"/>
                <a:ea typeface="+mn-ea"/>
                <a:cs typeface="+mn-cs"/>
              </a:rPr>
              <a:t>和低配云主机比，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Abadi" panose="020F0502020204030204" pitchFamily="34" charset="0"/>
                <a:ea typeface="+mn-ea"/>
                <a:cs typeface="+mn-cs"/>
              </a:rPr>
              <a:t>PC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Abadi" panose="020F0502020204030204" pitchFamily="34" charset="0"/>
                <a:ea typeface="+mn-ea"/>
                <a:cs typeface="+mn-cs"/>
              </a:rPr>
              <a:t>机的性能较强；和正规生产服务器比，正规生产服务器环境整体性能和稳定性通常更好。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>
                <a:latin typeface="Abad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badi" panose="020F0502020204030204" pitchFamily="34" charset="0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Abad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badi" panose="020F0502020204030204" pitchFamily="34" charset="0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>
                <a:latin typeface="Abad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Abadi" panose="020F050202020403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Abad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badi" panose="020F0502020204030204" pitchFamily="34" charset="0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badi" panose="020F0502020204030204" pitchFamily="34" charset="0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Abad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Abadi" panose="020F050202020403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 dirty="0"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badi" panose="020F0502020204030204" pitchFamily="34" charset="0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Abadi" panose="020F050202020403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 dirty="0"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badi" panose="020F0502020204030204" pitchFamily="34" charset="0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Abad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latin typeface="Abad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badi" panose="020F0502020204030204" pitchFamily="34" charset="0"/>
              </a:defRPr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 dirty="0"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Abadi" panose="020F050202020403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latin typeface="Abad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Abadi" panose="020F050202020403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Abadi" panose="020F050202020403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Abad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badi" panose="020F0502020204030204" pitchFamily="34" charset="0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Abad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badi" panose="020F0502020204030204" pitchFamily="34" charset="0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 dirty="0"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dirty="0"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badi" panose="020F0502020204030204" pitchFamily="34" charset="0"/>
                <a:ea typeface="Abadi" panose="020F0502020204030204" pitchFamily="34" charset="0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lang="zh-CN" altLang="en-US" dirty="0"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badi" panose="020F0502020204030204" pitchFamily="34" charset="0"/>
                <a:ea typeface="Abadi" panose="020F0502020204030204" pitchFamily="34" charset="0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lang="zh-CN" altLang="en-US" dirty="0"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badi" panose="020F0502020204030204" pitchFamily="34" charset="0"/>
                <a:ea typeface="Abadi" panose="020F0502020204030204" pitchFamily="34" charset="0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badi" panose="020F0502020204030204" pitchFamily="34" charset="0"/>
          <a:ea typeface="Abadi" panose="020F0502020204030204" pitchFamily="34" charset="0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badi" panose="020F0502020204030204" pitchFamily="34" charset="0"/>
          <a:ea typeface="Abadi" panose="020F0502020204030204" pitchFamily="34" charset="0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7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5.jpeg"/><Relationship Id="rId5" Type="http://schemas.openxmlformats.org/officeDocument/2006/relationships/tags" Target="../tags/tag6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5.xml"/><Relationship Id="rId9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slide" Target="slide3.xml"/><Relationship Id="rId4" Type="http://schemas.openxmlformats.org/officeDocument/2006/relationships/hyperlink" Target="https://www.figma.com/make/NfKJuQ1fWTdEZwNVfB2h5h/University-Student-Collaboration-Dashboard?fullscreen=1&amp;t=ikg5e8eUZKnwaIiu-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hyperlink" Target="https://www.figma.com/make/NfKJuQ1fWTdEZwNVfB2h5h/University-Student-Collaboration-Dashboard?fullscreen=1&amp;t=ikg5e8eUZKnwaIiu-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notesSlide" Target="../notesSlides/notesSlide6.xml"/><Relationship Id="rId5" Type="http://schemas.openxmlformats.org/officeDocument/2006/relationships/tags" Target="../tags/tag14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Relationship Id="rId6" Type="http://schemas.openxmlformats.org/officeDocument/2006/relationships/image" Target="../media/image16.png"/><Relationship Id="rId5" Type="http://schemas.openxmlformats.org/officeDocument/2006/relationships/hyperlink" Target="UML&#32452;&#20214;&#22270;.png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jpe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6.svg"/><Relationship Id="rId4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package" Target="../embeddings/Microsoft_Excel_Worksheet1.xlsx"/><Relationship Id="rId5" Type="http://schemas.openxmlformats.org/officeDocument/2006/relationships/image" Target="../media/image30.emf"/><Relationship Id="rId4" Type="http://schemas.openxmlformats.org/officeDocument/2006/relationships/package" Target="../embeddings/Microsoft_Excel_Worksheet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4762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 dirty="0" err="1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Linksee</a:t>
            </a:r>
            <a:r>
              <a:rPr lang="en-US" sz="60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6000" b="1" i="0" u="none" strike="noStrike" dirty="0" err="1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项目汇报</a:t>
            </a:r>
            <a:r>
              <a:rPr lang="en-US" sz="60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60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699000"/>
            <a:ext cx="10160000" cy="1524000"/>
          </a:xfrm>
          <a:prstGeom prst="roundRect">
            <a:avLst>
              <a:gd name="adj" fmla="val 100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75569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5016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59000" y="4953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</a:t>
            </a:r>
            <a:endParaRPr lang="en-US" sz="1400" b="0" i="0" u="none" strike="noStrike" dirty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第二组</a:t>
            </a:r>
            <a:endParaRPr lang="en-US" sz="1800" b="1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0" y="5016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588000" y="4953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endParaRPr lang="en-US" sz="1100" dirty="0">
              <a:latin typeface="Abadi" panose="020F0502020204030204" pitchFamily="34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[]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5016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890000" y="4953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</a:t>
            </a:r>
            <a:endParaRPr lang="en-US" sz="1100" dirty="0">
              <a:latin typeface="Abadi" panose="020F0502020204030204" pitchFamily="34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2026年4月30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en-US" sz="1800" b="1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项目前端的原型设计体系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762000" y="1365885"/>
            <a:ext cx="5214620" cy="4952365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1030257" y="4606490"/>
            <a:ext cx="4692567" cy="4438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lang="en-US" sz="1900" b="1" i="0" u="none" strike="noStrike" dirty="0" err="1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低保真原型（线框图</a:t>
            </a:r>
            <a:r>
              <a:rPr lang="en-US" sz="19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1030257" y="5177208"/>
            <a:ext cx="4692567" cy="10146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使用白板和纸笔快速确定核心功能布局和信息架构，投入成本低，方便团队内部快速讨论与设计迭代，是打磨产品骨架的最佳选择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6229985" y="1365250"/>
            <a:ext cx="5200015" cy="4953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>
            <a:off x="6483781" y="4606490"/>
            <a:ext cx="4692567" cy="4438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</a:t>
            </a:r>
            <a:r>
              <a:rPr lang="en-US" sz="1900" b="1" i="0" u="none" strike="noStrike" dirty="0" err="1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高保真原型（可交互模型</a:t>
            </a:r>
            <a:r>
              <a:rPr lang="en-US" sz="19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6483781" y="5177208"/>
            <a:ext cx="4692567" cy="10146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Figma 等专业工具制作高保真、可操作的原型，在编写代码前充分验证视觉风格、色彩系统和交互逻辑，能有效提前发现潜在问题，降低开发返工成本。</a:t>
            </a:r>
            <a:endParaRPr lang="en-US" sz="1100" dirty="0">
              <a:latin typeface="Abadi" panose="020F050202020403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92200" y="1624965"/>
            <a:ext cx="4568190" cy="29813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467475" y="1751965"/>
            <a:ext cx="4773295" cy="2727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hlinkClick r:id="rId4" action="ppaction://hlinkfile"/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pic>
        <p:nvPicPr>
          <p:cNvPr id="4" name="图片 3">
            <a:hlinkClick r:id="rId5" action="ppaction://hlinksldjump" tooltip="https://www.figma.com/make/NfKJuQ1fWTdEZwNVfB2h5h/University-Student-Collaboration-Dashboard?fullscreen=1&amp;t=ikg5e8eUZKnwaIiu-1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00" y="772160"/>
            <a:ext cx="11607800" cy="50673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70230" y="6035675"/>
            <a:ext cx="11355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badi" panose="020F0502020204030204" pitchFamily="34" charset="0"/>
                <a:hlinkClick r:id="rId4" action="ppaction://hlinkfile"/>
              </a:rPr>
              <a:t>https://www.figma.com/make/NfKJuQ1fWTdEZwNVfB2h5h/University-Student-Collaboration-Dashboard?fullscreen=1&amp;t=ikg5e8eUZKnwaIiu-1</a:t>
            </a:r>
            <a:endParaRPr lang="zh-CN" altLang="en-US" dirty="0"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hlinkClick r:id="rId4" action="ppaction://hlinkfile"/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0230" y="6035675"/>
            <a:ext cx="11355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badi" panose="020F0502020204030204" pitchFamily="34" charset="0"/>
                <a:hlinkClick r:id="rId4" action="ppaction://hlinkfile"/>
              </a:rPr>
              <a:t>https://www.figma.com/make/oCCh4DiGI9HQvANKk9psYa/University-Teacher-Dashboard?fullscreen=1&amp;t=J75w9500C00ThyRL-1</a:t>
            </a:r>
            <a:endParaRPr lang="zh-CN" altLang="en-US" dirty="0">
              <a:latin typeface="Abadi" panose="020F0502020204030204" pitchFamily="34" charset="0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25" y="838835"/>
            <a:ext cx="11410950" cy="49256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用户体验评估与测试计划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58495" y="1566545"/>
            <a:ext cx="5207000" cy="1862455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12495" y="1778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lang="en-US" sz="1900" b="1" i="0" u="none" strike="noStrike" dirty="0" err="1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角色扮演测试</a:t>
            </a:r>
            <a:r>
              <a:rPr lang="en-US" sz="19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(Role-playing Testing)</a:t>
            </a:r>
            <a:endParaRPr lang="en-US" sz="1100" dirty="0">
              <a:latin typeface="Abadi" panose="020F0502020204030204" pitchFamily="34" charset="0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邀请未参与开发的同学分别扮演“老师”、“助教”和“学生”三种角色，在真实环境中执行核心业务场景任务。通过第一视角观察和记录，发现潜在的逻辑断点、交互歧义及操作障碍，从真实使用者的角度去发现问题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667500" y="4122420"/>
            <a:ext cx="5207000" cy="251333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833235" y="4121785"/>
            <a:ext cx="478726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</a:t>
            </a:r>
            <a:r>
              <a:rPr lang="en-US" sz="19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关键指标量化</a:t>
            </a:r>
            <a:r>
              <a:rPr lang="en-US" sz="19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(Quantitative Metrics)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833235" y="4693285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建立客观的数据评估模型，以量化方式评估用户体验表现。</a:t>
            </a:r>
            <a:r>
              <a:rPr 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比如通过量化“教师批改操作耗时”的减少与“学生一次性修正成功率”的提升，以直观的数据对比，评估系统在减轻教学负担与优化协作质量上的实际成效。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235" y="1428750"/>
            <a:ext cx="4538980" cy="22409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495" y="3913505"/>
            <a:ext cx="4850130" cy="2389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89FCE1A-0481-4758-A756-F58FBB8EC00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175" y="7892"/>
            <a:ext cx="6321798" cy="6858000"/>
          </a:xfrm>
          <a:prstGeom prst="rect">
            <a:avLst/>
          </a:prstGeom>
        </p:spPr>
      </p:pic>
      <p:sp>
        <p:nvSpPr>
          <p:cNvPr id="20" name="AutoShape 8">
            <a:extLst>
              <a:ext uri="{FF2B5EF4-FFF2-40B4-BE49-F238E27FC236}">
                <a16:creationId xmlns:a16="http://schemas.microsoft.com/office/drawing/2014/main" id="{EEE55D89-A16A-4299-AC88-ED0FB7E089E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028578" y="344079"/>
            <a:ext cx="3416300" cy="19050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10">
            <a:extLst>
              <a:ext uri="{FF2B5EF4-FFF2-40B4-BE49-F238E27FC236}">
                <a16:creationId xmlns:a16="http://schemas.microsoft.com/office/drawing/2014/main" id="{8658CE8B-91CF-454E-8A26-239376DBFF9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600078" y="492851"/>
            <a:ext cx="202438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Model（模型层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</a:p>
        </p:txBody>
      </p:sp>
      <p:sp>
        <p:nvSpPr>
          <p:cNvPr id="22" name="AutoShape 11">
            <a:extLst>
              <a:ext uri="{FF2B5EF4-FFF2-40B4-BE49-F238E27FC236}">
                <a16:creationId xmlns:a16="http://schemas.microsoft.com/office/drawing/2014/main" id="{1232BE52-D500-4B58-9D8B-6195A3E3648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155578" y="1064169"/>
            <a:ext cx="314642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200" dirty="0"/>
              <a:t>主要由状态管理模块构成，例如 </a:t>
            </a:r>
            <a:r>
              <a:rPr lang="en-US" altLang="zh-CN" sz="1200" dirty="0"/>
              <a:t>stores/user.js</a:t>
            </a:r>
            <a:r>
              <a:rPr lang="zh-CN" altLang="en-US" sz="1200" dirty="0"/>
              <a:t>，用于维护系统中的核心数据状态，包括用户信息、访问令牌（</a:t>
            </a:r>
            <a:r>
              <a:rPr lang="en-US" altLang="zh-CN" sz="1200" dirty="0" err="1"/>
              <a:t>accessToken</a:t>
            </a:r>
            <a:r>
              <a:rPr lang="zh-CN" altLang="en-US" sz="1200" dirty="0"/>
              <a:t>）以及刷新令牌（</a:t>
            </a:r>
            <a:r>
              <a:rPr lang="en-US" altLang="zh-CN" sz="1200" dirty="0" err="1"/>
              <a:t>refreshToken</a:t>
            </a:r>
            <a:r>
              <a:rPr lang="zh-CN" altLang="en-US" sz="1200" dirty="0"/>
              <a:t>）等。模型层负责数据的存储、更新及业务数据的统一管理，并通过响应式机制将数据变化同步到视图层。</a:t>
            </a:r>
            <a:endParaRPr lang="en-US" sz="1050" i="0" u="none" strike="noStrike" dirty="0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D61DA36D-70A1-4AA7-9E2B-EE48F542AFC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028578" y="2484392"/>
            <a:ext cx="3416300" cy="19050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4">
            <a:extLst>
              <a:ext uri="{FF2B5EF4-FFF2-40B4-BE49-F238E27FC236}">
                <a16:creationId xmlns:a16="http://schemas.microsoft.com/office/drawing/2014/main" id="{676F01C1-87CA-44E4-96E1-D848B314F32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600078" y="2615021"/>
            <a:ext cx="202438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View（视图层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</a:p>
        </p:txBody>
      </p:sp>
      <p:sp>
        <p:nvSpPr>
          <p:cNvPr id="25" name="AutoShape 15">
            <a:extLst>
              <a:ext uri="{FF2B5EF4-FFF2-40B4-BE49-F238E27FC236}">
                <a16:creationId xmlns:a16="http://schemas.microsoft.com/office/drawing/2014/main" id="{D301EE56-C90F-4AF1-B4EC-1FC869B9FB9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155578" y="3146335"/>
            <a:ext cx="314642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200" dirty="0"/>
              <a:t>主要由各类 </a:t>
            </a:r>
            <a:r>
              <a:rPr lang="en-US" altLang="zh-CN" sz="1200" dirty="0"/>
              <a:t>Vue </a:t>
            </a:r>
            <a:r>
              <a:rPr lang="zh-CN" altLang="en-US" sz="1200" dirty="0"/>
              <a:t>页面组件构成，例如首页（</a:t>
            </a:r>
            <a:r>
              <a:rPr lang="en-US" altLang="zh-CN" sz="1200" dirty="0" err="1"/>
              <a:t>Home.vue</a:t>
            </a:r>
            <a:r>
              <a:rPr lang="zh-CN" altLang="en-US" sz="1200" dirty="0"/>
              <a:t>）、用户管理（</a:t>
            </a:r>
            <a:r>
              <a:rPr lang="en-US" altLang="zh-CN" sz="1200" dirty="0" err="1"/>
              <a:t>UserManagement.vue</a:t>
            </a:r>
            <a:r>
              <a:rPr lang="zh-CN" altLang="en-US" sz="1200" dirty="0"/>
              <a:t>）、课程管理（</a:t>
            </a:r>
            <a:r>
              <a:rPr lang="en-US" altLang="zh-CN" sz="1200" dirty="0" err="1"/>
              <a:t>Courses.vue</a:t>
            </a:r>
            <a:r>
              <a:rPr lang="zh-CN" altLang="en-US" sz="1200" dirty="0"/>
              <a:t>）等，负责界面的展示以及用户交互操作的接收。该层不直接处理业务逻辑，而是通过事件触发向控制层发起请求。</a:t>
            </a:r>
            <a:endParaRPr lang="en-US" sz="1050" i="0" u="none" strike="noStrike" dirty="0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E62F12EB-FAEE-45DC-A81F-10FF2D00BF6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080648" y="4568734"/>
            <a:ext cx="3416300" cy="19050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8">
            <a:extLst>
              <a:ext uri="{FF2B5EF4-FFF2-40B4-BE49-F238E27FC236}">
                <a16:creationId xmlns:a16="http://schemas.microsoft.com/office/drawing/2014/main" id="{79E6007D-3FD0-4F51-A303-DFE0F8EFCEB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378463" y="4708163"/>
            <a:ext cx="284099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Controller（控制器层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</a:p>
        </p:txBody>
      </p:sp>
      <p:sp>
        <p:nvSpPr>
          <p:cNvPr id="29" name="AutoShape 19">
            <a:extLst>
              <a:ext uri="{FF2B5EF4-FFF2-40B4-BE49-F238E27FC236}">
                <a16:creationId xmlns:a16="http://schemas.microsoft.com/office/drawing/2014/main" id="{0A427A9E-316E-40AA-B073-42719DEF9E0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219078" y="5267869"/>
            <a:ext cx="291147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200" dirty="0"/>
              <a:t>主要由路由管理模块（</a:t>
            </a:r>
            <a:r>
              <a:rPr lang="en-US" altLang="zh-CN" sz="1200" dirty="0"/>
              <a:t>router/index.js</a:t>
            </a:r>
            <a:r>
              <a:rPr lang="zh-CN" altLang="en-US" sz="1200" dirty="0"/>
              <a:t>）和接口封装模块（</a:t>
            </a:r>
            <a:r>
              <a:rPr lang="en-US" altLang="zh-CN" sz="1200" dirty="0"/>
              <a:t>utils/api.js</a:t>
            </a:r>
            <a:r>
              <a:rPr lang="zh-CN" altLang="en-US" sz="1200" dirty="0"/>
              <a:t>）组成。路由模块负责页面导航与访问控制，接口模块负责与后端 </a:t>
            </a:r>
            <a:r>
              <a:rPr lang="en-US" altLang="zh-CN" sz="1200" dirty="0"/>
              <a:t>REST API </a:t>
            </a:r>
            <a:r>
              <a:rPr lang="zh-CN" altLang="en-US" sz="1200" dirty="0"/>
              <a:t>进行通信。控制层作为连接视图层与模型层的桥梁，接收用户操作请求，调用后端接口，并根据返回结果更新模型层数据。</a:t>
            </a:r>
            <a:endParaRPr lang="en-US" sz="1050" i="0" u="none" strike="noStrike" dirty="0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">
            <a:extLst>
              <a:ext uri="{FF2B5EF4-FFF2-40B4-BE49-F238E27FC236}">
                <a16:creationId xmlns:a16="http://schemas.microsoft.com/office/drawing/2014/main" id="{52CCCF2F-3FD4-4E87-A648-D0D8F3070724}"/>
              </a:ext>
            </a:extLst>
          </p:cNvPr>
          <p:cNvSpPr/>
          <p:nvPr/>
        </p:nvSpPr>
        <p:spPr>
          <a:xfrm>
            <a:off x="302895" y="23368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前端MVC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6153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32080" y="9969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UML包图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975100" y="5833745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 </a:t>
            </a:r>
            <a:r>
              <a:rPr lang="en-US" sz="14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包图结构示意</a:t>
            </a:r>
            <a:endParaRPr lang="en-US" sz="1100" dirty="0">
              <a:latin typeface="Abadi" panose="020F0502020204030204" pitchFamily="34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" y="869950"/>
            <a:ext cx="11960860" cy="4652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1125" y="19621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项目部署图</a:t>
            </a:r>
            <a:endParaRPr lang="en-US" sz="1100" dirty="0">
              <a:latin typeface="Abadi" panose="020F0502020204030204" pitchFamily="34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85" y="932815"/>
            <a:ext cx="8352155" cy="518541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921510" y="6219825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 </a:t>
            </a:r>
            <a:r>
              <a:rPr lang="zh-CN" altLang="en-US" sz="14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项目部署图结构</a:t>
            </a:r>
            <a:r>
              <a:rPr lang="en-US" sz="14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示意</a:t>
            </a:r>
            <a:endParaRPr lang="en-US" sz="1100" dirty="0"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8">
            <a:extLst>
              <a:ext uri="{FF2B5EF4-FFF2-40B4-BE49-F238E27FC236}">
                <a16:creationId xmlns:a16="http://schemas.microsoft.com/office/drawing/2014/main" id="{B6793BDA-2412-481D-87B2-1343990BA2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028577" y="344078"/>
            <a:ext cx="3930377" cy="6194607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33045" y="12890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UML组件图</a:t>
            </a:r>
            <a:endParaRPr lang="en-US" sz="1100" dirty="0"/>
          </a:p>
        </p:txBody>
      </p:sp>
      <p:pic>
        <p:nvPicPr>
          <p:cNvPr id="16" name="图片 15" descr="屏幕截图 2026-04-29 1019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005" y="6986905"/>
            <a:ext cx="9409990" cy="4680000"/>
          </a:xfrm>
          <a:prstGeom prst="rect">
            <a:avLst/>
          </a:prstGeom>
        </p:spPr>
      </p:pic>
      <p:pic>
        <p:nvPicPr>
          <p:cNvPr id="5" name="图片 4">
            <a:hlinkClick r:id="rId5" action="ppaction://hlinkfile"/>
            <a:extLst>
              <a:ext uri="{FF2B5EF4-FFF2-40B4-BE49-F238E27FC236}">
                <a16:creationId xmlns:a16="http://schemas.microsoft.com/office/drawing/2014/main" id="{0B977EF2-6F01-4886-A4B7-2F8F28CACC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695" y="0"/>
            <a:ext cx="3231809" cy="683761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8646ECE-9260-4CFB-9423-22C2355A62F5}"/>
              </a:ext>
            </a:extLst>
          </p:cNvPr>
          <p:cNvSpPr txBox="1"/>
          <p:nvPr/>
        </p:nvSpPr>
        <p:spPr>
          <a:xfrm>
            <a:off x="8138345" y="563670"/>
            <a:ext cx="3710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入口层（</a:t>
            </a:r>
            <a:r>
              <a:rPr lang="en-US" altLang="zh-CN" sz="1600" dirty="0"/>
              <a:t>Entry</a:t>
            </a:r>
            <a:r>
              <a:rPr lang="zh-CN" altLang="en-US" sz="1600" dirty="0"/>
              <a:t>）包含 </a:t>
            </a:r>
            <a:r>
              <a:rPr lang="en-US" altLang="zh-CN" sz="1600" dirty="0"/>
              <a:t>main.js </a:t>
            </a:r>
            <a:r>
              <a:rPr lang="zh-CN" altLang="en-US" sz="1600" dirty="0"/>
              <a:t>和 </a:t>
            </a:r>
            <a:r>
              <a:rPr lang="en-US" altLang="zh-CN" sz="1600" dirty="0" err="1"/>
              <a:t>App.vue</a:t>
            </a:r>
            <a:r>
              <a:rPr lang="zh-CN" altLang="en-US" sz="1600" dirty="0"/>
              <a:t>，是系统启动与初始化的入口，负责加载核心模块并挂载根组件。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核心层（</a:t>
            </a:r>
            <a:r>
              <a:rPr lang="en-US" altLang="zh-CN" sz="1600" dirty="0"/>
              <a:t>Core</a:t>
            </a:r>
            <a:r>
              <a:rPr lang="zh-CN" altLang="en-US" sz="1600" dirty="0"/>
              <a:t>）包括路由模块（</a:t>
            </a:r>
            <a:r>
              <a:rPr lang="en-US" altLang="zh-CN" sz="1600" dirty="0"/>
              <a:t>router</a:t>
            </a:r>
            <a:r>
              <a:rPr lang="zh-CN" altLang="en-US" sz="1600" dirty="0"/>
              <a:t>）、状态管理模块（</a:t>
            </a:r>
            <a:r>
              <a:rPr lang="en-US" altLang="zh-CN" sz="1600" dirty="0"/>
              <a:t>store</a:t>
            </a:r>
            <a:r>
              <a:rPr lang="zh-CN" altLang="en-US" sz="1600" dirty="0"/>
              <a:t>）以及接口封装模块（</a:t>
            </a:r>
            <a:r>
              <a:rPr lang="en-US" altLang="zh-CN" sz="1600" dirty="0" err="1"/>
              <a:t>api</a:t>
            </a:r>
            <a:r>
              <a:rPr lang="zh-CN" altLang="en-US" sz="1600" dirty="0"/>
              <a:t>），是系统的核心功能支撑层。其中，路由模块负责页面调度，状态管理模块负责全局数据维护，接口模块负责与后端进行数据交互。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公共组件层（</a:t>
            </a:r>
            <a:r>
              <a:rPr lang="en-US" altLang="zh-CN" sz="1600" dirty="0"/>
              <a:t>Component</a:t>
            </a:r>
            <a:r>
              <a:rPr lang="zh-CN" altLang="en-US" sz="1600" dirty="0"/>
              <a:t>）主要包括 </a:t>
            </a:r>
            <a:r>
              <a:rPr lang="en-US" altLang="zh-CN" sz="1600" dirty="0" err="1"/>
              <a:t>Layout.vue</a:t>
            </a:r>
            <a:r>
              <a:rPr lang="en-US" altLang="zh-CN" sz="1600" dirty="0"/>
              <a:t> </a:t>
            </a:r>
            <a:r>
              <a:rPr lang="zh-CN" altLang="en-US" sz="1600" dirty="0"/>
              <a:t>等通用组件，用于提供统一的页面结构与布局，实现界面复用与一致性设计。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页面层（</a:t>
            </a:r>
            <a:r>
              <a:rPr lang="en-US" altLang="zh-CN" sz="1600" dirty="0"/>
              <a:t>View</a:t>
            </a:r>
            <a:r>
              <a:rPr lang="zh-CN" altLang="en-US" sz="1600" dirty="0"/>
              <a:t>）按照业务功能进一步划分为多个子模块，包括认证模块（</a:t>
            </a:r>
            <a:r>
              <a:rPr lang="en-US" altLang="zh-CN" sz="1600" dirty="0"/>
              <a:t>Auth</a:t>
            </a:r>
            <a:r>
              <a:rPr lang="zh-CN" altLang="en-US" sz="1600" dirty="0"/>
              <a:t>）、课程模块（</a:t>
            </a:r>
            <a:r>
              <a:rPr lang="en-US" altLang="zh-CN" sz="1600" dirty="0"/>
              <a:t>Course</a:t>
            </a:r>
            <a:r>
              <a:rPr lang="zh-CN" altLang="en-US" sz="1600" dirty="0"/>
              <a:t>）、班级模块（</a:t>
            </a:r>
            <a:r>
              <a:rPr lang="en-US" altLang="zh-CN" sz="1600" dirty="0"/>
              <a:t>Class</a:t>
            </a:r>
            <a:r>
              <a:rPr lang="zh-CN" altLang="en-US" sz="1600" dirty="0"/>
              <a:t>）、项目模块（</a:t>
            </a:r>
            <a:r>
              <a:rPr lang="en-US" altLang="zh-CN" sz="1600" dirty="0"/>
              <a:t>Project</a:t>
            </a:r>
            <a:r>
              <a:rPr lang="zh-CN" altLang="en-US" sz="1600" dirty="0"/>
              <a:t>）、任务模块（</a:t>
            </a:r>
            <a:r>
              <a:rPr lang="en-US" altLang="zh-CN" sz="1600" dirty="0"/>
              <a:t>Task</a:t>
            </a:r>
            <a:r>
              <a:rPr lang="zh-CN" altLang="en-US" sz="1600" dirty="0"/>
              <a:t>）以及系统管理模块（</a:t>
            </a:r>
            <a:r>
              <a:rPr lang="en-US" altLang="zh-CN" sz="1600" dirty="0"/>
              <a:t>System</a:t>
            </a:r>
            <a:r>
              <a:rPr lang="zh-CN" altLang="en-US" sz="1600" dirty="0"/>
              <a:t>）等。每个模块由多个页面组件组成，分别负责具体业务功能的实现。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虚拟化技术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：开发环境与基础</a:t>
            </a:r>
            <a:endParaRPr lang="en-US" sz="1100" dirty="0">
              <a:latin typeface="Abadi" panose="020F0502020204030204" pitchFamily="3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5418" y="2848521"/>
            <a:ext cx="1571297" cy="1571297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316621" y="4579224"/>
            <a:ext cx="2808890" cy="42829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容器化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17" name="AutoShape 4"/>
          <p:cNvSpPr/>
          <p:nvPr/>
        </p:nvSpPr>
        <p:spPr>
          <a:xfrm>
            <a:off x="3210909" y="1730702"/>
            <a:ext cx="8276897" cy="4696373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3464910" y="1921203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</a:t>
            </a:r>
            <a:r>
              <a:rPr lang="en-US" sz="1800" b="1" i="0" u="none" strike="noStrike" dirty="0" err="1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当前现状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19" name="AutoShape 6"/>
          <p:cNvSpPr/>
          <p:nvPr/>
        </p:nvSpPr>
        <p:spPr>
          <a:xfrm>
            <a:off x="3922109" y="2492703"/>
            <a:ext cx="5936593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采用容器虚拟化作为开发基座，将数据库、缓存、对象存储统一运行在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Docker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容器中，而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API/Web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应用先以本地进程运行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考虑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开发调试效率，保证了后端依赖的环境一致性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r>
              <a:rPr lang="zh-CN" altLang="en-US" sz="13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关于库等相关版本的管理目前考虑使用文件约定说明的方式。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20" name="AutoShape 7"/>
          <p:cNvSpPr/>
          <p:nvPr/>
        </p:nvSpPr>
        <p:spPr>
          <a:xfrm>
            <a:off x="3922107" y="3585120"/>
            <a:ext cx="6812457" cy="1397001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21" name="AutoShape 8"/>
          <p:cNvSpPr/>
          <p:nvPr/>
        </p:nvSpPr>
        <p:spPr>
          <a:xfrm>
            <a:off x="4049108" y="3712121"/>
            <a:ext cx="4698999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 dirty="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Developer Machine</a:t>
            </a:r>
            <a:endParaRPr lang="en-US" sz="1100" dirty="0">
              <a:latin typeface="Abadi" panose="020F0502020204030204" pitchFamily="34" charset="0"/>
            </a:endParaRPr>
          </a:p>
          <a:p>
            <a:pPr marL="127000" indent="0" algn="l">
              <a:lnSpc>
                <a:spcPct val="108000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 Local Process: API (localhost:3001) | Web (localhost:5173)</a:t>
            </a:r>
          </a:p>
          <a:p>
            <a:pPr marL="127000" indent="0" algn="l">
              <a:lnSpc>
                <a:spcPct val="108000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└─ Docker Compose (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基础设施层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8 · Redis 7 · 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MinIO</a:t>
            </a:r>
            <a:endParaRPr lang="en-US" sz="1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0"/>
          <p:cNvSpPr/>
          <p:nvPr/>
        </p:nvSpPr>
        <p:spPr>
          <a:xfrm>
            <a:off x="3922108" y="5207876"/>
            <a:ext cx="6812457" cy="956441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30" name="AutoShape 6"/>
          <p:cNvSpPr/>
          <p:nvPr/>
        </p:nvSpPr>
        <p:spPr>
          <a:xfrm>
            <a:off x="3943129" y="5204587"/>
            <a:ext cx="6812455" cy="73047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75000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</a:t>
            </a:r>
            <a:r>
              <a:rPr lang="zh-CN" altLang="en-US" sz="1300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推进计划：</a:t>
            </a:r>
            <a:endParaRPr lang="en-US" altLang="zh-CN" sz="1300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75000"/>
              </a:lnSpc>
              <a:defRPr/>
            </a:pPr>
            <a:r>
              <a:rPr lang="en-US" altLang="zh-CN" sz="12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</a:t>
            </a:r>
            <a:r>
              <a:rPr lang="en-US" altLang="zh-CN" sz="1200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基础容器化</a:t>
            </a:r>
            <a:r>
              <a:rPr lang="en-US" altLang="zh-CN" sz="12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</a:t>
            </a:r>
            <a:r>
              <a:rPr lang="en-US" altLang="zh-CN" sz="1200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r>
              <a:rPr lang="en-US" altLang="zh-CN" sz="12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 → </a:t>
            </a:r>
            <a:r>
              <a:rPr lang="en-US" altLang="zh-CN" sz="1200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</a:t>
            </a:r>
            <a:r>
              <a:rPr lang="zh-CN" altLang="en-US" sz="12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逐步</a:t>
            </a:r>
            <a:r>
              <a:rPr lang="en-US" altLang="zh-CN" sz="1200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容器化</a:t>
            </a:r>
            <a:r>
              <a:rPr lang="en-US" altLang="zh-CN" sz="12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</a:t>
            </a:r>
            <a:r>
              <a:rPr lang="en-US" altLang="zh-CN" sz="1200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端到端单元</a:t>
            </a:r>
            <a:r>
              <a:rPr lang="en-US" altLang="zh-CN" sz="12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 → </a:t>
            </a:r>
            <a:r>
              <a:rPr lang="en-US" altLang="zh-CN" sz="1200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</a:t>
            </a:r>
            <a:r>
              <a:rPr lang="zh-CN" altLang="en-US" sz="12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系统、验收测试</a:t>
            </a:r>
            <a:r>
              <a:rPr lang="en-US" altLang="zh-CN" sz="12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2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发布等后续流程</a:t>
            </a:r>
            <a:endParaRPr lang="en-US" sz="1100" dirty="0"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2" name="AutoShape 5"/>
          <p:cNvSpPr/>
          <p:nvPr/>
        </p:nvSpPr>
        <p:spPr>
          <a:xfrm>
            <a:off x="8145517" y="5183177"/>
            <a:ext cx="3284483" cy="45719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5" name="AutoShape 3"/>
          <p:cNvSpPr/>
          <p:nvPr/>
        </p:nvSpPr>
        <p:spPr>
          <a:xfrm>
            <a:off x="884621" y="2095500"/>
            <a:ext cx="417085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非功能性考量</a:t>
            </a:r>
            <a:endParaRPr lang="en-US" sz="1100" dirty="0">
              <a:solidFill>
                <a:schemeClr val="accent5">
                  <a:lumMod val="60000"/>
                  <a:lumOff val="40000"/>
                </a:schemeClr>
              </a:solidFill>
              <a:latin typeface="Abadi" panose="020F0502020204030204" pitchFamily="34" charset="0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8145517" y="5080001"/>
            <a:ext cx="3410607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安全与风险 </a:t>
            </a:r>
            <a:r>
              <a:rPr lang="en-US" altLang="zh-CN" sz="24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zh-CN" altLang="en-US" sz="24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容量与性能</a:t>
            </a:r>
            <a:endParaRPr lang="en-US" sz="900" dirty="0">
              <a:latin typeface="Abadi" panose="020F0502020204030204" pitchFamily="34" charset="0"/>
            </a:endParaRPr>
          </a:p>
        </p:txBody>
      </p:sp>
      <p:sp>
        <p:nvSpPr>
          <p:cNvPr id="7" name="AutoShape 4"/>
          <p:cNvSpPr/>
          <p:nvPr/>
        </p:nvSpPr>
        <p:spPr>
          <a:xfrm>
            <a:off x="425669" y="6236137"/>
            <a:ext cx="1639613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09023301 </a:t>
            </a:r>
            <a:r>
              <a:rPr lang="zh-CN" altLang="en-US" sz="1600" i="0" u="none" strike="noStrike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张凯轩</a:t>
            </a:r>
            <a:endParaRPr lang="en-US" sz="600" dirty="0">
              <a:solidFill>
                <a:schemeClr val="tx1"/>
              </a:solidFill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" panose="020F0502020204030204" pitchFamily="34" charset="0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" panose="020F0502020204030204" pitchFamily="34" charset="0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安全与风险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8" name="AutoShape 6"/>
          <p:cNvSpPr/>
          <p:nvPr/>
        </p:nvSpPr>
        <p:spPr>
          <a:xfrm>
            <a:off x="1667641" y="1215696"/>
            <a:ext cx="3492938" cy="508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首先需要考虑的是账号密码安全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762000" y="2003097"/>
            <a:ext cx="2540000" cy="4445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CA5A5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2257097"/>
            <a:ext cx="355600" cy="355600"/>
          </a:xfrm>
          <a:prstGeom prst="rect">
            <a:avLst/>
          </a:prstGeom>
        </p:spPr>
      </p:pic>
      <p:sp>
        <p:nvSpPr>
          <p:cNvPr id="11" name="AutoShape 6"/>
          <p:cNvSpPr/>
          <p:nvPr/>
        </p:nvSpPr>
        <p:spPr>
          <a:xfrm>
            <a:off x="1422400" y="2231697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1077311" y="2866697"/>
            <a:ext cx="1933903" cy="26823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600" b="1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存储风险：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明文存储；</a:t>
            </a:r>
            <a:r>
              <a:rPr lang="en-US" altLang="zh-CN" sz="1500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弱哈希存储的密码</a:t>
            </a:r>
            <a:r>
              <a:rPr lang="en-US" altLang="zh-CN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也易遭受暴力破解或者对照还原，譬如</a:t>
            </a:r>
            <a:r>
              <a:rPr lang="en-US" altLang="zh-CN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SHA-256</a:t>
            </a:r>
            <a:r>
              <a:rPr lang="zh-CN" altLang="en-US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加密方式等</a:t>
            </a:r>
            <a:endParaRPr lang="en-US" altLang="zh-CN" sz="1500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600" b="1" dirty="0" err="1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暴力破解</a:t>
            </a:r>
            <a:r>
              <a:rPr lang="en-US" altLang="zh-CN" sz="1600" b="1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500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登录接口若未限制次数，易遭受撞库攻击</a:t>
            </a:r>
            <a:r>
              <a:rPr lang="en-US" altLang="zh-CN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</a:t>
            </a:r>
            <a:endParaRPr lang="en-US" sz="1500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3556000" y="2003097"/>
            <a:ext cx="2540000" cy="4445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86EFAC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pic>
        <p:nvPicPr>
          <p:cNvPr id="14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9200" y="2257097"/>
            <a:ext cx="355600" cy="355600"/>
          </a:xfrm>
          <a:prstGeom prst="rect">
            <a:avLst/>
          </a:prstGeom>
        </p:spPr>
      </p:pic>
      <p:sp>
        <p:nvSpPr>
          <p:cNvPr id="15" name="AutoShape 10"/>
          <p:cNvSpPr/>
          <p:nvPr/>
        </p:nvSpPr>
        <p:spPr>
          <a:xfrm>
            <a:off x="4216400" y="2231697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设计与实现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16" name="AutoShape 11"/>
          <p:cNvSpPr/>
          <p:nvPr/>
        </p:nvSpPr>
        <p:spPr>
          <a:xfrm>
            <a:off x="3765331" y="2917497"/>
            <a:ext cx="2229069" cy="163435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600" b="1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强哈希存储：</a:t>
            </a:r>
          </a:p>
          <a:p>
            <a:pPr indent="0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参考</a:t>
            </a:r>
            <a:r>
              <a:rPr lang="en-US" altLang="zh-CN" sz="1500" b="1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</a:rPr>
              <a:t>OWASP</a:t>
            </a:r>
            <a:r>
              <a:rPr lang="zh-CN" altLang="en-US" dirty="0">
                <a:latin typeface="Abadi" panose="020F0502020204030204" pitchFamily="34" charset="0"/>
              </a:rPr>
              <a:t>，</a:t>
            </a:r>
            <a:r>
              <a:rPr lang="en-US" sz="1500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选用</a:t>
            </a:r>
            <a:r>
              <a:rPr lang="zh-CN" altLang="en-US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公认较强的</a:t>
            </a:r>
            <a:r>
              <a:rPr lang="en-US" sz="1500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Argon2id</a:t>
            </a:r>
            <a:r>
              <a:rPr lang="en-US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算法，确保不可逆的密文形式</a:t>
            </a:r>
            <a:r>
              <a:rPr lang="zh-CN" altLang="en-US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，阻碍侧信道攻击和</a:t>
            </a:r>
            <a:r>
              <a:rPr lang="en-US" altLang="zh-CN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GPU</a:t>
            </a:r>
            <a:r>
              <a:rPr lang="zh-CN" altLang="en-US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计算；</a:t>
            </a:r>
            <a:endParaRPr lang="en-US" sz="1500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>
              <a:lnSpc>
                <a:spcPct val="125000"/>
              </a:lnSpc>
              <a:spcBef>
                <a:spcPts val="800"/>
              </a:spcBef>
              <a:defRPr/>
            </a:pPr>
            <a:endParaRPr lang="en-US" sz="1500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1114689" y="1297840"/>
            <a:ext cx="8373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</a:t>
            </a:r>
            <a:endParaRPr lang="en-US" dirty="0">
              <a:solidFill>
                <a:schemeClr val="tx1"/>
              </a:solidFill>
              <a:latin typeface="Abadi" panose="020F0502020204030204" pitchFamily="34" charset="0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95090" y="1752412"/>
            <a:ext cx="5281448" cy="2722179"/>
          </a:xfrm>
          <a:prstGeom prst="roundRect">
            <a:avLst>
              <a:gd name="adj" fmla="val 3529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20" name="AutoShape 19"/>
          <p:cNvSpPr/>
          <p:nvPr/>
        </p:nvSpPr>
        <p:spPr>
          <a:xfrm>
            <a:off x="6978870" y="1993966"/>
            <a:ext cx="4771696" cy="223907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 dirty="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// 1. </a:t>
            </a:r>
            <a:r>
              <a:rPr lang="en-US" sz="900" b="0" i="0" u="none" strike="noStrike" dirty="0" err="1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密码哈希校验</a:t>
            </a:r>
            <a:endParaRPr lang="en-US" sz="1100" dirty="0">
              <a:latin typeface="Abadi" panose="020F0502020204030204" pitchFamily="34" charset="0"/>
            </a:endParaRPr>
          </a:p>
          <a:p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const 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passwordOk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 = await argon2.verify(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user.passwordHash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, password);</a:t>
            </a:r>
          </a:p>
          <a:p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if (!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passwordOk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) {  </a:t>
            </a:r>
          </a:p>
          <a:p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await 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recordLoginFailure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);  </a:t>
            </a:r>
          </a:p>
          <a:p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return 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invalidCredentials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(res);</a:t>
            </a:r>
          </a:p>
          <a:p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}await </a:t>
            </a:r>
          </a:p>
          <a:p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clearLoginFailures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</a:p>
          <a:p>
            <a:endParaRPr lang="en-US" sz="900" b="0" i="0" u="none" strike="noStrike" dirty="0">
              <a:solidFill>
                <a:srgbClr val="A7F3D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0000"/>
              </a:lnSpc>
            </a:pPr>
            <a:r>
              <a:rPr lang="en-US" sz="900" b="0" i="0" u="none" strike="noStrike" dirty="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// 2. </a:t>
            </a:r>
            <a:r>
              <a:rPr lang="en-US" sz="900" b="0" i="0" u="none" strike="noStrike" dirty="0" err="1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失败计数与锁定</a:t>
            </a:r>
            <a:endParaRPr lang="en-US" sz="900" b="0" i="0" u="none" strike="noStrike" dirty="0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const MAX_ATTEMPTS = 5;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const LOCK_SECONDS = 15 * 60;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export async function 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isLoginLocked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: string): 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Promise&lt;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&gt; {  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const attempts = Number(await 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redis.get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lockKey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)));  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return 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Number.isFinite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(attempts) &amp;&amp; attempts &gt;= MAX_ATTEMPTS;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900" b="0" i="0" u="none" strike="noStrike" dirty="0">
              <a:solidFill>
                <a:srgbClr val="BFDBF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" name="AutoShape 20"/>
          <p:cNvSpPr/>
          <p:nvPr/>
        </p:nvSpPr>
        <p:spPr>
          <a:xfrm>
            <a:off x="9414643" y="4892126"/>
            <a:ext cx="2235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 dirty="0">
              <a:latin typeface="Abadi" panose="020F0502020204030204" pitchFamily="34" charset="0"/>
            </a:endParaRPr>
          </a:p>
        </p:txBody>
      </p:sp>
      <p:pic>
        <p:nvPicPr>
          <p:cNvPr id="22" name="Picture 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77311" y="1285766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11"/>
          <p:cNvSpPr/>
          <p:nvPr/>
        </p:nvSpPr>
        <p:spPr>
          <a:xfrm>
            <a:off x="3765331" y="4384568"/>
            <a:ext cx="2229069" cy="163435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1600" b="1" dirty="0" err="1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登录限流</a:t>
            </a:r>
            <a:r>
              <a:rPr lang="en-US" altLang="zh-CN" sz="1600" b="1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：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500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设定连续失败阈值，触发后自动锁定</a:t>
            </a:r>
            <a:r>
              <a:rPr lang="zh-CN" altLang="en-US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阻断</a:t>
            </a:r>
            <a:endParaRPr lang="en-US" altLang="zh-CN" sz="1500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>
              <a:lnSpc>
                <a:spcPct val="125000"/>
              </a:lnSpc>
              <a:spcBef>
                <a:spcPts val="800"/>
              </a:spcBef>
              <a:defRPr/>
            </a:pPr>
            <a:endParaRPr lang="en-US" sz="1500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11"/>
          <p:cNvSpPr/>
          <p:nvPr/>
        </p:nvSpPr>
        <p:spPr>
          <a:xfrm>
            <a:off x="7144848" y="4818554"/>
            <a:ext cx="4074945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500" b="1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Argon2id</a:t>
            </a:r>
            <a:r>
              <a:rPr lang="en-US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算法</a:t>
            </a:r>
            <a:r>
              <a:rPr lang="zh-CN" altLang="en-US" sz="15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500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内存设置为</a:t>
            </a:r>
            <a:r>
              <a:rPr lang="en-US" altLang="zh-CN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64MB</a:t>
            </a: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；迭代次数设置为</a:t>
            </a:r>
            <a:r>
              <a:rPr lang="en-US" altLang="zh-CN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3</a:t>
            </a: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；并行数设置为</a:t>
            </a:r>
            <a:r>
              <a:rPr lang="en-US" altLang="zh-CN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1</a:t>
            </a: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；输出哈希长度为</a:t>
            </a:r>
            <a:r>
              <a:rPr lang="en-US" altLang="zh-CN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32</a:t>
            </a: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字节，较高的熵</a:t>
            </a:r>
            <a:endParaRPr lang="en-US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" panose="020F0502020204030204" pitchFamily="34" charset="0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" panose="020F0502020204030204" pitchFamily="34" charset="0"/>
              <a:sym typeface="Arial" panose="020B0604020202020204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安全与风险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3" name="AutoShape 6"/>
          <p:cNvSpPr/>
          <p:nvPr/>
        </p:nvSpPr>
        <p:spPr>
          <a:xfrm>
            <a:off x="1647536" y="1234339"/>
            <a:ext cx="3492938" cy="508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会话</a:t>
            </a:r>
            <a:r>
              <a:rPr lang="en-US" altLang="zh-CN" sz="1800" b="1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Token</a:t>
            </a:r>
            <a:r>
              <a:rPr lang="zh-CN" altLang="en-US" sz="1800" b="1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安全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5" name="AutoShape 17"/>
          <p:cNvSpPr/>
          <p:nvPr/>
        </p:nvSpPr>
        <p:spPr>
          <a:xfrm>
            <a:off x="555777" y="2084595"/>
            <a:ext cx="8373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</a:t>
            </a:r>
            <a:endParaRPr lang="en-US" dirty="0">
              <a:solidFill>
                <a:schemeClr val="tx1"/>
              </a:solidFill>
              <a:latin typeface="Abadi" panose="020F0502020204030204" pitchFamily="34" charset="0"/>
            </a:endParaRPr>
          </a:p>
        </p:txBody>
      </p:sp>
      <p:sp>
        <p:nvSpPr>
          <p:cNvPr id="6" name="AutoShape 18"/>
          <p:cNvSpPr/>
          <p:nvPr/>
        </p:nvSpPr>
        <p:spPr>
          <a:xfrm>
            <a:off x="555777" y="2678306"/>
            <a:ext cx="5113283" cy="2437355"/>
          </a:xfrm>
          <a:prstGeom prst="roundRect">
            <a:avLst>
              <a:gd name="adj" fmla="val 3529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7" name="AutoShape 19"/>
          <p:cNvSpPr/>
          <p:nvPr/>
        </p:nvSpPr>
        <p:spPr>
          <a:xfrm>
            <a:off x="897364" y="2776872"/>
            <a:ext cx="4771696" cy="223907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export async function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consumeRefreshToken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rawToken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: string): Promise&lt;string | null&gt;{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const key =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refreshKey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rawToken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const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= await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redis.get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(key);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if (!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null;  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await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redis.del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(key); // </a:t>
            </a:r>
            <a:r>
              <a:rPr lang="zh-CN" alt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关键：消费即删除，防重放</a:t>
            </a:r>
            <a:endParaRPr lang="en-US" altLang="zh-CN" sz="1100" dirty="0">
              <a:solidFill>
                <a:srgbClr val="BFDBF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zh-CN" alt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return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 dirty="0">
              <a:solidFill>
                <a:srgbClr val="BFDBF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" name="AutoShape 20"/>
          <p:cNvSpPr/>
          <p:nvPr/>
        </p:nvSpPr>
        <p:spPr>
          <a:xfrm>
            <a:off x="9414643" y="4892126"/>
            <a:ext cx="2235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9" name="AutoShape 11"/>
          <p:cNvSpPr/>
          <p:nvPr/>
        </p:nvSpPr>
        <p:spPr>
          <a:xfrm>
            <a:off x="6296970" y="1471438"/>
            <a:ext cx="5767555" cy="14399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b="1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身份验证授权：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Web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应用中，常见的身份管理、验证授权机制：</a:t>
            </a:r>
            <a:endParaRPr lang="en-US" altLang="zh-CN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Cookie-session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  以及 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（令牌），这里选择实现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（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JWT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）</a:t>
            </a:r>
            <a:endParaRPr lang="en-US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 panose="020B0200000000000000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318" y="1135040"/>
            <a:ext cx="751568" cy="751568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457330" y="3268165"/>
            <a:ext cx="5281447" cy="19824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      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相较于单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实现，双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机制设置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access token 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和 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refresh token,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比单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更加安全，合理设置可以保证攻击窗口更短；</a:t>
            </a:r>
            <a:endParaRPr lang="en-US" altLang="zh-CN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      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具体实现中，我们使用</a:t>
            </a:r>
            <a:r>
              <a:rPr lang="en-US" altLang="zh-CN" sz="1500" dirty="0" err="1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redis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存储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refresh token,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为实现吊销黑名单留下接口；</a:t>
            </a:r>
            <a:endParaRPr lang="en-US" altLang="zh-CN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      </a:t>
            </a:r>
            <a:endParaRPr lang="en-US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2" name="AutoShape 11"/>
          <p:cNvSpPr/>
          <p:nvPr/>
        </p:nvSpPr>
        <p:spPr>
          <a:xfrm>
            <a:off x="6457330" y="4822786"/>
            <a:ext cx="5281447" cy="7845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       Access 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 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TTL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设置为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30 mins ;Refresh token TTL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设置为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7d; 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除此之外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,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实现了刷新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refresh token;</a:t>
            </a:r>
          </a:p>
        </p:txBody>
      </p:sp>
      <p:sp>
        <p:nvSpPr>
          <p:cNvPr id="13" name="AutoShape 5"/>
          <p:cNvSpPr/>
          <p:nvPr/>
        </p:nvSpPr>
        <p:spPr>
          <a:xfrm>
            <a:off x="6406055" y="3066900"/>
            <a:ext cx="5470635" cy="45719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" panose="020F0502020204030204" pitchFamily="34" charset="0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" panose="020F0502020204030204" pitchFamily="34" charset="0"/>
              <a:sym typeface="Arial" panose="020B0604020202020204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安全与风险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3" name="AutoShape 6"/>
          <p:cNvSpPr/>
          <p:nvPr/>
        </p:nvSpPr>
        <p:spPr>
          <a:xfrm>
            <a:off x="1563453" y="1591300"/>
            <a:ext cx="1048368" cy="508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权限校验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5" name="AutoShape 20"/>
          <p:cNvSpPr/>
          <p:nvPr/>
        </p:nvSpPr>
        <p:spPr>
          <a:xfrm>
            <a:off x="9414643" y="4892126"/>
            <a:ext cx="2235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6" name="AutoShape 11"/>
          <p:cNvSpPr/>
          <p:nvPr/>
        </p:nvSpPr>
        <p:spPr>
          <a:xfrm>
            <a:off x="947971" y="2283638"/>
            <a:ext cx="1922041" cy="21543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       针对不同的权限角色，在接口层（路由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/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角色级）进行验证，允许访问或者拦截；</a:t>
            </a:r>
            <a:endParaRPr lang="en-US" altLang="zh-CN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       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针对操作层水平的权限角色，对资源进行归属校验判断合法性；</a:t>
            </a:r>
            <a:endParaRPr lang="en-US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7" name="AutoShape 5"/>
          <p:cNvSpPr/>
          <p:nvPr/>
        </p:nvSpPr>
        <p:spPr>
          <a:xfrm rot="5400000" flipV="1">
            <a:off x="2092755" y="3836298"/>
            <a:ext cx="2903716" cy="57807"/>
          </a:xfrm>
          <a:prstGeom prst="roundRect">
            <a:avLst>
              <a:gd name="adj" fmla="val 0"/>
            </a:avLst>
          </a:prstGeom>
          <a:solidFill>
            <a:schemeClr val="accent4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pic>
        <p:nvPicPr>
          <p:cNvPr id="8" name="图形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200" y="1656489"/>
            <a:ext cx="442812" cy="442812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4107" y="1540940"/>
            <a:ext cx="511065" cy="511065"/>
          </a:xfrm>
          <a:prstGeom prst="rect">
            <a:avLst/>
          </a:prstGeom>
        </p:spPr>
      </p:pic>
      <p:sp>
        <p:nvSpPr>
          <p:cNvPr id="10" name="AutoShape 6"/>
          <p:cNvSpPr/>
          <p:nvPr/>
        </p:nvSpPr>
        <p:spPr>
          <a:xfrm>
            <a:off x="5573150" y="1540940"/>
            <a:ext cx="1600160" cy="508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日志与审计？</a:t>
            </a:r>
            <a:endParaRPr lang="en-US" sz="1100" dirty="0">
              <a:solidFill>
                <a:schemeClr val="accent6">
                  <a:lumMod val="40000"/>
                  <a:lumOff val="60000"/>
                </a:schemeClr>
              </a:solidFill>
              <a:latin typeface="Abadi" panose="020F0502020204030204" pitchFamily="3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056806" y="2337353"/>
            <a:ext cx="2396731" cy="29797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spcBef>
                <a:spcPts val="800"/>
              </a:spcBef>
              <a:defRPr/>
            </a:pPr>
            <a:r>
              <a:rPr lang="zh-CN" altLang="en-US" sz="1500" b="1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结合实际，针对场景是否需要设计审计，比如对修改成绩的操作进行记录？</a:t>
            </a:r>
            <a:endParaRPr lang="en-US" altLang="zh-CN" sz="1500" b="1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spcBef>
                <a:spcPts val="800"/>
              </a:spcBef>
              <a:defRPr/>
            </a:pPr>
            <a:r>
              <a:rPr lang="zh-CN" altLang="en-US" sz="1500" b="1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成绩等相关数据归属，纳入国家三等保护？</a:t>
            </a:r>
            <a:endParaRPr lang="en-US" altLang="zh-CN" sz="1500" b="1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简单实现操作审计，设计审计表，保存记录在数据库中？</a:t>
            </a:r>
            <a:endParaRPr lang="en-US" altLang="zh-CN" sz="15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9531" y="2397497"/>
            <a:ext cx="1892944" cy="3821546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>
            <a:off x="5391992" y="5781127"/>
            <a:ext cx="10615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AutoShape 5"/>
          <p:cNvSpPr/>
          <p:nvPr/>
        </p:nvSpPr>
        <p:spPr>
          <a:xfrm rot="5400000" flipV="1">
            <a:off x="6446159" y="5753425"/>
            <a:ext cx="508002" cy="55405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15" name="AutoShape 11"/>
          <p:cNvSpPr/>
          <p:nvPr/>
        </p:nvSpPr>
        <p:spPr>
          <a:xfrm>
            <a:off x="9173891" y="2283638"/>
            <a:ext cx="2776613" cy="27461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b="1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实现基础的日志功能？</a:t>
            </a:r>
            <a:endParaRPr lang="en-US" altLang="zh-CN" sz="1500" b="1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比如使用</a:t>
            </a:r>
            <a:r>
              <a:rPr lang="en-US" altLang="zh-CN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Winston</a:t>
            </a:r>
            <a:r>
              <a:rPr lang="zh-CN" altLang="en-US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库</a:t>
            </a:r>
            <a:endParaRPr lang="en-US" altLang="zh-CN" sz="15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方便运维</a:t>
            </a:r>
            <a:r>
              <a:rPr lang="en-US" altLang="zh-CN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,</a:t>
            </a:r>
            <a:r>
              <a:rPr lang="zh-CN" altLang="en-US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定义简单的</a:t>
            </a:r>
            <a:r>
              <a:rPr lang="en-US" altLang="zh-CN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events</a:t>
            </a:r>
            <a:r>
              <a:rPr lang="zh-CN" altLang="en-US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，</a:t>
            </a:r>
            <a:endParaRPr lang="en-US" altLang="zh-CN" sz="15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设计实现简单的入侵检测等；</a:t>
            </a:r>
            <a:endParaRPr lang="en-US" altLang="zh-CN" sz="15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（需要注意日志中不能包含敏感</a:t>
            </a:r>
            <a:endParaRPr lang="en-US" altLang="zh-CN" sz="15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的数据信息）</a:t>
            </a:r>
            <a:endParaRPr lang="en-US" altLang="zh-CN" sz="15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日志数据保存在文件中</a:t>
            </a:r>
            <a:endParaRPr lang="en-US" altLang="zh-CN" sz="15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1432909"/>
            <a:ext cx="5207000" cy="5071241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71279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24724" y="1833179"/>
            <a:ext cx="1197303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假设估算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2657364"/>
            <a:ext cx="4699000" cy="16045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用户量：</a:t>
            </a:r>
            <a:endParaRPr lang="en-US" altLang="zh-CN" b="1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1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     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历届东大本科生 </a:t>
            </a:r>
            <a:r>
              <a:rPr lang="en-US" altLang="zh-CN" b="1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17000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人左右；老师</a:t>
            </a:r>
            <a:r>
              <a:rPr lang="en-US" altLang="zh-CN" b="1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3079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人；假设一学期</a:t>
            </a:r>
            <a:r>
              <a:rPr lang="en-US" altLang="zh-CN" b="1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2000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人左右老师授课，每门课配置</a:t>
            </a:r>
            <a:r>
              <a:rPr lang="en-US" altLang="zh-CN" b="1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1-2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位助教辅助教学；</a:t>
            </a:r>
            <a:endParaRPr lang="en-US" altLang="zh-CN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   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估算针对一个学校开发总用户量大概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1~2w+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左右；</a:t>
            </a:r>
            <a:endParaRPr lang="en-US" altLang="zh-CN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    </a:t>
            </a:r>
            <a:endParaRPr lang="en-US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432909"/>
            <a:ext cx="5207000" cy="5071241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5607" y="1833179"/>
            <a:ext cx="406400" cy="406400"/>
          </a:xfrm>
          <a:prstGeom prst="rect">
            <a:avLst/>
          </a:prstGeom>
        </p:spPr>
      </p:pic>
      <p:sp>
        <p:nvSpPr>
          <p:cNvPr id="23" name="AutoShape 3"/>
          <p:cNvSpPr/>
          <p:nvPr/>
        </p:nvSpPr>
        <p:spPr>
          <a:xfrm>
            <a:off x="762000" y="508000"/>
            <a:ext cx="224395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容量与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3" name="AutoShape 10">
            <a:extLst>
              <a:ext uri="{FF2B5EF4-FFF2-40B4-BE49-F238E27FC236}">
                <a16:creationId xmlns:a16="http://schemas.microsoft.com/office/drawing/2014/main" id="{7EEB976F-77EA-7DE9-B001-C6ACBB094601}"/>
              </a:ext>
            </a:extLst>
          </p:cNvPr>
          <p:cNvSpPr/>
          <p:nvPr/>
        </p:nvSpPr>
        <p:spPr>
          <a:xfrm>
            <a:off x="1016000" y="4101659"/>
            <a:ext cx="1989959" cy="8942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b="1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DAU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：</a:t>
            </a:r>
            <a:endParaRPr lang="en-US" altLang="zh-CN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1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     </a:t>
            </a:r>
            <a:r>
              <a:rPr lang="en-US" altLang="zh-CN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10%~20% 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？千级；</a:t>
            </a:r>
            <a:endParaRPr lang="en-US" altLang="zh-CN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   ~ 50% 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？万级；</a:t>
            </a:r>
            <a:endParaRPr lang="en-US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B266DAB8-7DF8-B2E5-294D-11F8D6087300}"/>
              </a:ext>
            </a:extLst>
          </p:cNvPr>
          <p:cNvSpPr/>
          <p:nvPr/>
        </p:nvSpPr>
        <p:spPr>
          <a:xfrm>
            <a:off x="1016000" y="4953000"/>
            <a:ext cx="4699000" cy="8942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负载、并发特征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：</a:t>
            </a:r>
            <a:endParaRPr lang="en-US" altLang="zh-CN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1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     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瓶颈：</a:t>
            </a:r>
            <a:r>
              <a:rPr lang="en-US" altLang="zh-CN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	            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计算密集型                    存储密集型</a:t>
            </a:r>
            <a:endParaRPr lang="en-US" altLang="zh-CN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   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负载特征：        长尾负载                    尖峰（热点）负载</a:t>
            </a:r>
            <a:endParaRPr lang="en-US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483D15E-E615-F8F5-F558-2525C7E457DC}"/>
              </a:ext>
            </a:extLst>
          </p:cNvPr>
          <p:cNvCxnSpPr/>
          <p:nvPr/>
        </p:nvCxnSpPr>
        <p:spPr>
          <a:xfrm>
            <a:off x="3300248" y="5425090"/>
            <a:ext cx="7882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99C325A-72B1-1399-3F2D-84E0F1014139}"/>
              </a:ext>
            </a:extLst>
          </p:cNvPr>
          <p:cNvCxnSpPr/>
          <p:nvPr/>
        </p:nvCxnSpPr>
        <p:spPr>
          <a:xfrm>
            <a:off x="3300248" y="5708868"/>
            <a:ext cx="7882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utoShape 10">
            <a:extLst>
              <a:ext uri="{FF2B5EF4-FFF2-40B4-BE49-F238E27FC236}">
                <a16:creationId xmlns:a16="http://schemas.microsoft.com/office/drawing/2014/main" id="{E08948D8-33D7-D677-9650-53E2D62BF34A}"/>
              </a:ext>
            </a:extLst>
          </p:cNvPr>
          <p:cNvSpPr/>
          <p:nvPr/>
        </p:nvSpPr>
        <p:spPr>
          <a:xfrm>
            <a:off x="2333295" y="5875280"/>
            <a:ext cx="1581808" cy="474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离散、长时、多点</a:t>
            </a:r>
            <a:endParaRPr lang="en-US" altLang="zh-CN" sz="1200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    </a:t>
            </a:r>
            <a:endParaRPr lang="en-US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B7210EBA-D607-6CD0-B0C7-647E72D8DD60}"/>
              </a:ext>
            </a:extLst>
          </p:cNvPr>
          <p:cNvSpPr/>
          <p:nvPr/>
        </p:nvSpPr>
        <p:spPr>
          <a:xfrm>
            <a:off x="4088523" y="5755286"/>
            <a:ext cx="1581808" cy="4747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集中、单点、瞬时</a:t>
            </a:r>
            <a:r>
              <a:rPr lang="en-US" altLang="zh-CN" sz="1200" b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QPS</a:t>
            </a:r>
            <a:endParaRPr lang="en-US" dirty="0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AutoShape 10">
            <a:extLst>
              <a:ext uri="{FF2B5EF4-FFF2-40B4-BE49-F238E27FC236}">
                <a16:creationId xmlns:a16="http://schemas.microsoft.com/office/drawing/2014/main" id="{D47F8021-8370-03E3-BA6A-E5CD98505E2C}"/>
              </a:ext>
            </a:extLst>
          </p:cNvPr>
          <p:cNvSpPr/>
          <p:nvPr/>
        </p:nvSpPr>
        <p:spPr>
          <a:xfrm>
            <a:off x="3210910" y="4462958"/>
            <a:ext cx="2160752" cy="46683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日均人均</a:t>
            </a: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API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请求次数</a:t>
            </a:r>
            <a:endParaRPr lang="en-US" altLang="zh-CN" b="1" dirty="0">
              <a:solidFill>
                <a:schemeClr val="accent1">
                  <a:lumMod val="60000"/>
                  <a:lumOff val="40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QPS</a:t>
            </a:r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估算： 百级以下？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AutoShape 9">
            <a:extLst>
              <a:ext uri="{FF2B5EF4-FFF2-40B4-BE49-F238E27FC236}">
                <a16:creationId xmlns:a16="http://schemas.microsoft.com/office/drawing/2014/main" id="{C91E6E8D-47CC-AD4A-A508-6E8E1690BE4C}"/>
              </a:ext>
            </a:extLst>
          </p:cNvPr>
          <p:cNvSpPr/>
          <p:nvPr/>
        </p:nvSpPr>
        <p:spPr>
          <a:xfrm>
            <a:off x="7246007" y="1833179"/>
            <a:ext cx="1197303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存储估计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32" name="AutoShape 10">
            <a:extLst>
              <a:ext uri="{FF2B5EF4-FFF2-40B4-BE49-F238E27FC236}">
                <a16:creationId xmlns:a16="http://schemas.microsoft.com/office/drawing/2014/main" id="{48F3047B-E199-450B-D022-6585E737EE70}"/>
              </a:ext>
            </a:extLst>
          </p:cNvPr>
          <p:cNvSpPr/>
          <p:nvPr/>
        </p:nvSpPr>
        <p:spPr>
          <a:xfrm>
            <a:off x="6585607" y="2512846"/>
            <a:ext cx="4699000" cy="13961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调研发现一个人一年在服务器上的存储量通常在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1GB-</a:t>
            </a:r>
            <a:r>
              <a:rPr lang="zh-CN" altLang="en-US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几百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GB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之间，考虑不同的需求场景。</a:t>
            </a:r>
            <a:endParaRPr lang="en-US" altLang="zh-CN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 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我们的协作、文件共享以及交流等等的场景，主要的存储针对文件的保存以及聊天记录的保存等等。</a:t>
            </a:r>
            <a:endParaRPr lang="en-US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79BF3DF1-1C99-B25A-175B-05613C152AB5}"/>
              </a:ext>
            </a:extLst>
          </p:cNvPr>
          <p:cNvSpPr/>
          <p:nvPr/>
        </p:nvSpPr>
        <p:spPr>
          <a:xfrm>
            <a:off x="6625021" y="3900219"/>
            <a:ext cx="4699000" cy="64856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按照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20~50GB/y</a:t>
            </a: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的常规估算，需要结合具体的服务器存储策略来考量规划存储空间设置；</a:t>
            </a:r>
            <a:endParaRPr lang="en-US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AutoShape 10">
            <a:extLst>
              <a:ext uri="{FF2B5EF4-FFF2-40B4-BE49-F238E27FC236}">
                <a16:creationId xmlns:a16="http://schemas.microsoft.com/office/drawing/2014/main" id="{C733F34B-1428-47AD-C7C4-BBAE5DFEC8FD}"/>
              </a:ext>
            </a:extLst>
          </p:cNvPr>
          <p:cNvSpPr/>
          <p:nvPr/>
        </p:nvSpPr>
        <p:spPr>
          <a:xfrm>
            <a:off x="7295054" y="4820081"/>
            <a:ext cx="3062891" cy="33764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</a:rPr>
              <a:t>QQ</a:t>
            </a:r>
            <a:r>
              <a:rPr lang="zh-CN" altLang="en-US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</a:rPr>
              <a:t>7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~30 </a:t>
            </a:r>
            <a:r>
              <a:rPr lang="zh-CN" altLang="en-US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</a:rPr>
              <a:t>天过期</a:t>
            </a:r>
            <a:r>
              <a:rPr lang="en-US" altLang="zh-CN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</a:rPr>
              <a:t>	</a:t>
            </a:r>
            <a:r>
              <a:rPr lang="zh-CN" altLang="en-US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</a:rPr>
              <a:t>统计数据未知</a:t>
            </a:r>
            <a:endParaRPr lang="en-US" dirty="0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AutoShape 10">
            <a:extLst>
              <a:ext uri="{FF2B5EF4-FFF2-40B4-BE49-F238E27FC236}">
                <a16:creationId xmlns:a16="http://schemas.microsoft.com/office/drawing/2014/main" id="{69C13843-07D9-E72F-F6C1-5195DF0C7702}"/>
              </a:ext>
            </a:extLst>
          </p:cNvPr>
          <p:cNvSpPr/>
          <p:nvPr/>
        </p:nvSpPr>
        <p:spPr>
          <a:xfrm>
            <a:off x="6477000" y="4592143"/>
            <a:ext cx="790026" cy="33764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比如：</a:t>
            </a:r>
            <a:endParaRPr lang="en-US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6" name="AutoShape 10">
            <a:extLst>
              <a:ext uri="{FF2B5EF4-FFF2-40B4-BE49-F238E27FC236}">
                <a16:creationId xmlns:a16="http://schemas.microsoft.com/office/drawing/2014/main" id="{92534E9D-A4A8-4278-3912-4F3499C949E1}"/>
              </a:ext>
            </a:extLst>
          </p:cNvPr>
          <p:cNvSpPr/>
          <p:nvPr/>
        </p:nvSpPr>
        <p:spPr>
          <a:xfrm>
            <a:off x="7066453" y="5188818"/>
            <a:ext cx="3428125" cy="33764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</a:t>
            </a:r>
            <a:r>
              <a:rPr lang="zh-CN" altLang="en-US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存储周期设置： </a:t>
            </a:r>
            <a:r>
              <a:rPr lang="en-US" altLang="zh-CN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周   </a:t>
            </a:r>
            <a:r>
              <a:rPr lang="en-US" altLang="zh-CN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个月   半学期？ </a:t>
            </a:r>
            <a:endParaRPr lang="en-US" dirty="0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AutoShape 10">
            <a:extLst>
              <a:ext uri="{FF2B5EF4-FFF2-40B4-BE49-F238E27FC236}">
                <a16:creationId xmlns:a16="http://schemas.microsoft.com/office/drawing/2014/main" id="{4BA29666-C74D-A11B-6755-2E6008B16E8C}"/>
              </a:ext>
            </a:extLst>
          </p:cNvPr>
          <p:cNvSpPr/>
          <p:nvPr/>
        </p:nvSpPr>
        <p:spPr>
          <a:xfrm>
            <a:off x="7066453" y="5572447"/>
            <a:ext cx="2027184" cy="33764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     </a:t>
            </a:r>
            <a:r>
              <a:rPr lang="zh-CN" altLang="en-US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以及考虑用户粘性</a:t>
            </a:r>
            <a:endParaRPr lang="en-US" dirty="0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AutoShape 10">
            <a:extLst>
              <a:ext uri="{FF2B5EF4-FFF2-40B4-BE49-F238E27FC236}">
                <a16:creationId xmlns:a16="http://schemas.microsoft.com/office/drawing/2014/main" id="{E21E30FD-F3F3-4827-F053-AA86B1AA8C72}"/>
              </a:ext>
            </a:extLst>
          </p:cNvPr>
          <p:cNvSpPr/>
          <p:nvPr/>
        </p:nvSpPr>
        <p:spPr>
          <a:xfrm>
            <a:off x="9683092" y="5677659"/>
            <a:ext cx="1188984" cy="33764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几</a:t>
            </a:r>
            <a:r>
              <a:rPr lang="en-US" altLang="zh-CN" b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~</a:t>
            </a:r>
            <a:r>
              <a:rPr lang="zh-CN" altLang="en-US" b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几十</a:t>
            </a:r>
            <a:r>
              <a:rPr lang="en-US" altLang="zh-CN" b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TB</a:t>
            </a:r>
            <a:r>
              <a:rPr lang="zh-CN" altLang="en-US" b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？</a:t>
            </a:r>
            <a:endParaRPr lang="en-US" sz="1600" dirty="0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0320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数据库读写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数据累积、</a:t>
            </a:r>
            <a:r>
              <a:rPr lang="en-US" altLang="zh-CN" sz="20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</a:t>
            </a:r>
            <a:r>
              <a:rPr lang="zh-CN" altLang="en-US" sz="20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开销</a:t>
            </a:r>
            <a:endParaRPr lang="en-US" sz="1200" dirty="0">
              <a:latin typeface="Abadi" panose="020F0502020204030204" pitchFamily="34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576167" y="3937000"/>
            <a:ext cx="123522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08000"/>
              </a:lnSpc>
              <a:defRPr/>
            </a:pPr>
            <a:r>
              <a:rPr lang="zh-CN" altLang="en-US" sz="1200" dirty="0">
                <a:latin typeface="Abadi" panose="020F0502020204030204" pitchFamily="34" charset="0"/>
              </a:rPr>
              <a:t>复合索引设计；</a:t>
            </a:r>
            <a:endParaRPr lang="en-US" altLang="zh-CN" sz="1200" dirty="0">
              <a:latin typeface="Abadi" panose="020F0502020204030204" pitchFamily="34" charset="0"/>
            </a:endParaRPr>
          </a:p>
          <a:p>
            <a:pPr indent="0">
              <a:lnSpc>
                <a:spcPct val="108000"/>
              </a:lnSpc>
              <a:defRPr/>
            </a:pPr>
            <a:r>
              <a:rPr lang="zh-CN" altLang="en-US" sz="1200" dirty="0">
                <a:latin typeface="Abadi" panose="020F0502020204030204" pitchFamily="34" charset="0"/>
              </a:rPr>
              <a:t>异步写日志、审计；</a:t>
            </a:r>
            <a:endParaRPr lang="en-US" altLang="zh-CN" sz="1200" dirty="0">
              <a:latin typeface="Abadi" panose="020F0502020204030204" pitchFamily="34" charset="0"/>
            </a:endParaRPr>
          </a:p>
          <a:p>
            <a:pPr indent="0">
              <a:lnSpc>
                <a:spcPct val="108000"/>
              </a:lnSpc>
              <a:defRPr/>
            </a:pPr>
            <a:r>
              <a:rPr lang="zh-CN" altLang="en-US" sz="1200" dirty="0">
                <a:latin typeface="Abadi" panose="020F0502020204030204" pitchFamily="34" charset="0"/>
              </a:rPr>
              <a:t>大字段拆分</a:t>
            </a:r>
            <a:endParaRPr lang="en-US" sz="1200" dirty="0">
              <a:latin typeface="Abadi" panose="020F0502020204030204" pitchFamily="3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556000" y="17780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0" y="2032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254500" y="20320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文件上传链路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556000" y="27940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带宽占用、传输开销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987800" y="3937000"/>
            <a:ext cx="1949646" cy="10320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08000"/>
              </a:lnSpc>
              <a:defRPr/>
            </a:pPr>
            <a:r>
              <a:rPr lang="zh-CN" altLang="en-US" sz="1200" dirty="0">
                <a:latin typeface="Abadi" panose="020F0502020204030204" pitchFamily="34" charset="0"/>
              </a:rPr>
              <a:t>后端负责权限校验与元数据生成，客户端直接推送二进制流至 </a:t>
            </a:r>
            <a:r>
              <a:rPr lang="en-US" altLang="zh-CN" sz="1200" dirty="0" err="1">
                <a:latin typeface="Abadi" panose="020F0502020204030204" pitchFamily="34" charset="0"/>
              </a:rPr>
              <a:t>MinIO</a:t>
            </a:r>
            <a:r>
              <a:rPr lang="zh-CN" altLang="en-US" sz="1200" dirty="0">
                <a:latin typeface="Abadi" panose="020F0502020204030204" pitchFamily="34" charset="0"/>
              </a:rPr>
              <a:t>；</a:t>
            </a:r>
            <a:endParaRPr lang="en-US" altLang="zh-CN" sz="1200" dirty="0">
              <a:latin typeface="Abadi" panose="020F0502020204030204" pitchFamily="34" charset="0"/>
            </a:endParaRPr>
          </a:p>
          <a:p>
            <a:pPr indent="0">
              <a:lnSpc>
                <a:spcPct val="108000"/>
              </a:lnSpc>
              <a:defRPr/>
            </a:pPr>
            <a:r>
              <a:rPr lang="zh-CN" altLang="en-US" sz="1200" dirty="0">
                <a:latin typeface="Abadi" panose="020F0502020204030204" pitchFamily="34" charset="0"/>
              </a:rPr>
              <a:t>大文件进行分片处理，传输？</a:t>
            </a:r>
            <a:endParaRPr lang="en-US" altLang="zh-CN" sz="1200" dirty="0">
              <a:latin typeface="Abadi" panose="020F0502020204030204" pitchFamily="34" charset="0"/>
            </a:endParaRPr>
          </a:p>
          <a:p>
            <a:pPr indent="0">
              <a:lnSpc>
                <a:spcPct val="108000"/>
              </a:lnSpc>
              <a:defRPr/>
            </a:pPr>
            <a:endParaRPr lang="en-US" sz="1200" dirty="0">
              <a:latin typeface="Abadi" panose="020F0502020204030204" pitchFamily="34" charset="0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032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20320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认证计算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27940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验证算法的计算开销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838070" y="4000500"/>
            <a:ext cx="1803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zh-CN" altLang="en-US" sz="1200" dirty="0">
                <a:latin typeface="Abadi" panose="020F0502020204030204" pitchFamily="34" charset="0"/>
              </a:rPr>
              <a:t>专门的线程池进行认证计算？</a:t>
            </a:r>
            <a:endParaRPr lang="en-US" altLang="zh-CN" sz="1200" dirty="0">
              <a:latin typeface="Abadi" panose="020F0502020204030204" pitchFamily="34" charset="0"/>
            </a:endParaRPr>
          </a:p>
          <a:p>
            <a:pPr>
              <a:lnSpc>
                <a:spcPct val="108000"/>
              </a:lnSpc>
              <a:defRPr/>
            </a:pPr>
            <a:r>
              <a:rPr lang="zh-CN" altLang="en-US" sz="1200" dirty="0">
                <a:latin typeface="Abadi" panose="020F0502020204030204" pitchFamily="34" charset="0"/>
              </a:rPr>
              <a:t>选择硬件性能好的服务器</a:t>
            </a:r>
            <a:endParaRPr lang="en-US" altLang="zh-CN" sz="1200" dirty="0">
              <a:latin typeface="Abadi" panose="020F0502020204030204" pitchFamily="34" charset="0"/>
            </a:endParaRPr>
          </a:p>
          <a:p>
            <a:pPr>
              <a:lnSpc>
                <a:spcPct val="108000"/>
              </a:lnSpc>
              <a:defRPr/>
            </a:pPr>
            <a:r>
              <a:rPr lang="zh-CN" altLang="en-US" sz="1200" dirty="0">
                <a:latin typeface="Abadi" panose="020F0502020204030204" pitchFamily="34" charset="0"/>
              </a:rPr>
              <a:t>适当增加并行度</a:t>
            </a:r>
            <a:endParaRPr lang="en-US" sz="1200" dirty="0">
              <a:latin typeface="Abadi" panose="020F0502020204030204" pitchFamily="34" charset="0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080500" y="17780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4500" y="2032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779000" y="20320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实时通信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30" name="AutoShape 3"/>
          <p:cNvSpPr/>
          <p:nvPr/>
        </p:nvSpPr>
        <p:spPr>
          <a:xfrm>
            <a:off x="762000" y="508000"/>
            <a:ext cx="224395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容量与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3" name="AutoShape 19">
            <a:extLst>
              <a:ext uri="{FF2B5EF4-FFF2-40B4-BE49-F238E27FC236}">
                <a16:creationId xmlns:a16="http://schemas.microsoft.com/office/drawing/2014/main" id="{30B36F37-E06E-3C31-5ADC-002DCED40111}"/>
              </a:ext>
            </a:extLst>
          </p:cNvPr>
          <p:cNvSpPr/>
          <p:nvPr/>
        </p:nvSpPr>
        <p:spPr>
          <a:xfrm>
            <a:off x="9080500" y="27940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广播消息、通信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4219863-DCB6-4B78-1B50-B431912822EF}"/>
              </a:ext>
            </a:extLst>
          </p:cNvPr>
          <p:cNvSpPr/>
          <p:nvPr/>
        </p:nvSpPr>
        <p:spPr>
          <a:xfrm>
            <a:off x="9512300" y="4000500"/>
            <a:ext cx="1803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000"/>
              </a:lnSpc>
              <a:defRPr/>
            </a:pPr>
            <a:r>
              <a:rPr lang="en-US" altLang="zh-CN" sz="1200" dirty="0">
                <a:latin typeface="Abadi" panose="020F0502020204030204" pitchFamily="34" charset="0"/>
              </a:rPr>
              <a:t>Room</a:t>
            </a:r>
            <a:r>
              <a:rPr lang="zh-CN" altLang="en-US" sz="1200" dirty="0">
                <a:latin typeface="Abadi" panose="020F0502020204030204" pitchFamily="34" charset="0"/>
              </a:rPr>
              <a:t>的隔离</a:t>
            </a:r>
            <a:r>
              <a:rPr lang="en-US" altLang="zh-CN" sz="1200" dirty="0">
                <a:latin typeface="Abadi" panose="020F0502020204030204" pitchFamily="34" charset="0"/>
              </a:rPr>
              <a:t>(</a:t>
            </a:r>
            <a:r>
              <a:rPr lang="zh-CN" altLang="en-US" sz="1200" dirty="0">
                <a:latin typeface="Abadi" panose="020F0502020204030204" pitchFamily="34" charset="0"/>
              </a:rPr>
              <a:t>刚需功能</a:t>
            </a:r>
            <a:r>
              <a:rPr lang="en-US" altLang="zh-CN" sz="1200" dirty="0">
                <a:latin typeface="Abadi" panose="020F0502020204030204" pitchFamily="34" charset="0"/>
              </a:rPr>
              <a:t>)</a:t>
            </a:r>
          </a:p>
          <a:p>
            <a:pPr>
              <a:lnSpc>
                <a:spcPct val="108000"/>
              </a:lnSpc>
              <a:defRPr/>
            </a:pPr>
            <a:r>
              <a:rPr lang="zh-CN" altLang="en-US" sz="1200" dirty="0">
                <a:latin typeface="Abadi" panose="020F0502020204030204" pitchFamily="34" charset="0"/>
              </a:rPr>
              <a:t>状态与数据分离，在通信场景中就是消息先发后存</a:t>
            </a:r>
            <a:endParaRPr lang="en-US" altLang="zh-CN" sz="1200" dirty="0"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23" name="AutoShape 3"/>
          <p:cNvSpPr/>
          <p:nvPr/>
        </p:nvSpPr>
        <p:spPr>
          <a:xfrm>
            <a:off x="762000" y="508000"/>
            <a:ext cx="224395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容量与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</a:t>
            </a:r>
            <a:endParaRPr lang="en-US" sz="1100" dirty="0">
              <a:latin typeface="Abadi" panose="020F0502020204030204" pitchFamily="34" charset="0"/>
            </a:endParaRPr>
          </a:p>
        </p:txBody>
      </p:sp>
      <p:sp>
        <p:nvSpPr>
          <p:cNvPr id="3" name="AutoShape 10">
            <a:extLst>
              <a:ext uri="{FF2B5EF4-FFF2-40B4-BE49-F238E27FC236}">
                <a16:creationId xmlns:a16="http://schemas.microsoft.com/office/drawing/2014/main" id="{7FD65394-BBD2-23C9-1FB1-2E64C0C12A20}"/>
              </a:ext>
            </a:extLst>
          </p:cNvPr>
          <p:cNvSpPr/>
          <p:nvPr/>
        </p:nvSpPr>
        <p:spPr>
          <a:xfrm>
            <a:off x="1155409" y="1109803"/>
            <a:ext cx="3353286" cy="8283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</a:rPr>
              <a:t>——   </a:t>
            </a:r>
            <a:r>
              <a:rPr lang="en-US" sz="2400" b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</a:rPr>
              <a:t>T</a:t>
            </a:r>
            <a:r>
              <a:rPr lang="en-US" altLang="zh-CN" sz="2400" b="1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</a:rPr>
              <a:t>est and Refine</a:t>
            </a:r>
            <a:endParaRPr lang="en-US" sz="2400" b="1" dirty="0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AutoShape 6">
            <a:extLst>
              <a:ext uri="{FF2B5EF4-FFF2-40B4-BE49-F238E27FC236}">
                <a16:creationId xmlns:a16="http://schemas.microsoft.com/office/drawing/2014/main" id="{16287D03-2A3D-CEE6-EDA6-21C4DA69CA61}"/>
              </a:ext>
            </a:extLst>
          </p:cNvPr>
          <p:cNvSpPr/>
          <p:nvPr/>
        </p:nvSpPr>
        <p:spPr>
          <a:xfrm>
            <a:off x="785161" y="2735189"/>
            <a:ext cx="2220798" cy="7658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负载测试、脉冲测试</a:t>
            </a:r>
            <a:endParaRPr lang="en-US" sz="1100" dirty="0">
              <a:solidFill>
                <a:schemeClr val="tx1"/>
              </a:solidFill>
              <a:latin typeface="Abadi" panose="020F0502020204030204" pitchFamily="34" charset="0"/>
            </a:endParaRPr>
          </a:p>
        </p:txBody>
      </p:sp>
      <p:sp>
        <p:nvSpPr>
          <p:cNvPr id="25" name="AutoShape 5">
            <a:extLst>
              <a:ext uri="{FF2B5EF4-FFF2-40B4-BE49-F238E27FC236}">
                <a16:creationId xmlns:a16="http://schemas.microsoft.com/office/drawing/2014/main" id="{106D5099-D39A-1C75-1421-B92F077D6DE8}"/>
              </a:ext>
            </a:extLst>
          </p:cNvPr>
          <p:cNvSpPr/>
          <p:nvPr/>
        </p:nvSpPr>
        <p:spPr>
          <a:xfrm>
            <a:off x="785161" y="3425641"/>
            <a:ext cx="2114843" cy="6096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Abadi" panose="020F0502020204030204" pitchFamily="34" charset="0"/>
            </a:endParaRPr>
          </a:p>
        </p:txBody>
      </p:sp>
      <p:sp>
        <p:nvSpPr>
          <p:cNvPr id="26" name="AutoShape 11">
            <a:extLst>
              <a:ext uri="{FF2B5EF4-FFF2-40B4-BE49-F238E27FC236}">
                <a16:creationId xmlns:a16="http://schemas.microsoft.com/office/drawing/2014/main" id="{004E01A4-F738-C8A5-CB1A-3E24B6201BFE}"/>
              </a:ext>
            </a:extLst>
          </p:cNvPr>
          <p:cNvSpPr/>
          <p:nvPr/>
        </p:nvSpPr>
        <p:spPr>
          <a:xfrm>
            <a:off x="31496" y="3700835"/>
            <a:ext cx="3622171" cy="8283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      响应速度、系统资源（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CPU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利用率）、</a:t>
            </a:r>
            <a:endParaRPr lang="en-US" altLang="zh-CN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内存占用（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RSS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）、磁盘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 panose="020B0200000000000000" charset="-122"/>
              </a:rPr>
              <a:t>I/O</a:t>
            </a:r>
            <a:endParaRPr lang="en-US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27" name="AutoShape 11">
            <a:extLst>
              <a:ext uri="{FF2B5EF4-FFF2-40B4-BE49-F238E27FC236}">
                <a16:creationId xmlns:a16="http://schemas.microsoft.com/office/drawing/2014/main" id="{C276329F-B611-327E-32A2-D313D9DFD95F}"/>
              </a:ext>
            </a:extLst>
          </p:cNvPr>
          <p:cNvSpPr/>
          <p:nvPr/>
        </p:nvSpPr>
        <p:spPr>
          <a:xfrm>
            <a:off x="4435403" y="1938196"/>
            <a:ext cx="4619770" cy="51538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endParaRPr lang="en-US" altLang="zh-CN" sz="1500" b="1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Example</a:t>
            </a:r>
            <a:r>
              <a:rPr lang="zh-CN" altLang="en-US" sz="1600" b="1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：    </a:t>
            </a:r>
            <a:r>
              <a:rPr lang="zh-CN" altLang="en-US" sz="16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在本地</a:t>
            </a:r>
            <a:r>
              <a:rPr lang="en-US" altLang="zh-CN" sz="16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PC</a:t>
            </a:r>
            <a:r>
              <a:rPr lang="zh-CN" altLang="en-US" sz="16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机环境上进行的测试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endParaRPr lang="en-US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 panose="020B0200000000000000" charset="-122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98E2C7E5-9EC8-9A8A-81EC-0243B3C15C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493075"/>
              </p:ext>
            </p:extLst>
          </p:nvPr>
        </p:nvGraphicFramePr>
        <p:xfrm>
          <a:off x="5445125" y="3249613"/>
          <a:ext cx="130016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300197" imgH="357254" progId="Excel.Sheet.12">
                  <p:embed/>
                </p:oleObj>
              </mc:Choice>
              <mc:Fallback>
                <p:oleObj name="Worksheet" r:id="rId4" imgW="1300197" imgH="35725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45125" y="3249613"/>
                        <a:ext cx="1300163" cy="357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6E7892A1-CB23-725F-4419-BA967FB99D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639772"/>
              </p:ext>
            </p:extLst>
          </p:nvPr>
        </p:nvGraphicFramePr>
        <p:xfrm>
          <a:off x="5445125" y="3249613"/>
          <a:ext cx="130016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300197" imgH="357254" progId="Excel.Sheet.12">
                  <p:embed/>
                </p:oleObj>
              </mc:Choice>
              <mc:Fallback>
                <p:oleObj name="Worksheet" r:id="rId6" imgW="1300197" imgH="35725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45125" y="3249613"/>
                        <a:ext cx="1300163" cy="357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E78071EE-A0C1-5A24-18BB-475D94076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595993"/>
              </p:ext>
            </p:extLst>
          </p:nvPr>
        </p:nvGraphicFramePr>
        <p:xfrm>
          <a:off x="3996692" y="2691022"/>
          <a:ext cx="7863844" cy="341415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965961">
                  <a:extLst>
                    <a:ext uri="{9D8B030D-6E8A-4147-A177-3AD203B41FA5}">
                      <a16:colId xmlns:a16="http://schemas.microsoft.com/office/drawing/2014/main" val="1935219028"/>
                    </a:ext>
                  </a:extLst>
                </a:gridCol>
                <a:gridCol w="1965961">
                  <a:extLst>
                    <a:ext uri="{9D8B030D-6E8A-4147-A177-3AD203B41FA5}">
                      <a16:colId xmlns:a16="http://schemas.microsoft.com/office/drawing/2014/main" val="1200015206"/>
                    </a:ext>
                  </a:extLst>
                </a:gridCol>
                <a:gridCol w="1965961">
                  <a:extLst>
                    <a:ext uri="{9D8B030D-6E8A-4147-A177-3AD203B41FA5}">
                      <a16:colId xmlns:a16="http://schemas.microsoft.com/office/drawing/2014/main" val="1141576324"/>
                    </a:ext>
                  </a:extLst>
                </a:gridCol>
                <a:gridCol w="1965961">
                  <a:extLst>
                    <a:ext uri="{9D8B030D-6E8A-4147-A177-3AD203B41FA5}">
                      <a16:colId xmlns:a16="http://schemas.microsoft.com/office/drawing/2014/main" val="3802866951"/>
                    </a:ext>
                  </a:extLst>
                </a:gridCol>
              </a:tblGrid>
              <a:tr h="5632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指标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串行测试 </a:t>
                      </a:r>
                      <a:r>
                        <a:rPr lang="en-US" altLang="zh-CN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(1 </a:t>
                      </a: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用户</a:t>
                      </a:r>
                      <a:r>
                        <a:rPr lang="en-US" altLang="zh-CN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并发压测 </a:t>
                      </a:r>
                      <a:r>
                        <a:rPr lang="en-US" altLang="zh-CN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(10 </a:t>
                      </a:r>
                      <a:r>
                        <a:rPr lang="zh-CN" altLang="en-US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用户</a:t>
                      </a:r>
                      <a:r>
                        <a:rPr lang="en-US" altLang="zh-CN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对比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522462097"/>
                  </a:ext>
                </a:extLst>
              </a:tr>
              <a:tr h="5632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平均延迟 </a:t>
                      </a:r>
                      <a:r>
                        <a:rPr lang="en-US" altLang="zh-CN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(</a:t>
                      </a: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Avg)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125.39 </a:t>
                      </a:r>
                      <a:r>
                        <a:rPr lang="en-US" sz="1500" b="0" i="0" u="none" strike="noStrike" cap="none" dirty="0" err="1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ms</a:t>
                      </a:r>
                      <a:endParaRPr lang="en-US" sz="1500" b="0" i="0" u="none" strike="noStrike" cap="none" dirty="0">
                        <a:solidFill>
                          <a:srgbClr val="4B5563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296.7 ms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延迟增长 </a:t>
                      </a:r>
                      <a:r>
                        <a:rPr lang="en-US" altLang="zh-CN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2.37 </a:t>
                      </a: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倍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56427741"/>
                  </a:ext>
                </a:extLst>
              </a:tr>
              <a:tr h="580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中位延迟 </a:t>
                      </a:r>
                      <a:r>
                        <a:rPr lang="en-US" altLang="zh-CN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(</a:t>
                      </a:r>
                      <a:r>
                        <a:rPr lang="en-US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P50)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120.63 </a:t>
                      </a:r>
                      <a:r>
                        <a:rPr lang="en-US" sz="1500" b="0" i="0" u="none" strike="noStrike" cap="none" dirty="0" err="1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ms</a:t>
                      </a:r>
                      <a:endParaRPr lang="en-US" sz="1500" b="0" i="0" u="none" strike="noStrike" cap="none" dirty="0">
                        <a:solidFill>
                          <a:srgbClr val="4B5563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284.1 </a:t>
                      </a:r>
                      <a:r>
                        <a:rPr lang="en-US" sz="1500" b="0" i="0" u="none" strike="noStrike" cap="none" dirty="0" err="1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ms</a:t>
                      </a:r>
                      <a:endParaRPr lang="en-US" sz="1500" b="0" i="0" u="none" strike="noStrike" cap="none" dirty="0">
                        <a:solidFill>
                          <a:srgbClr val="4B5563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典型体验受并发冲击明显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82599605"/>
                  </a:ext>
                </a:extLst>
              </a:tr>
              <a:tr h="580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尾部延迟 </a:t>
                      </a:r>
                      <a:r>
                        <a:rPr lang="en-US" altLang="zh-CN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(</a:t>
                      </a: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P95)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149.86 </a:t>
                      </a:r>
                      <a:r>
                        <a:rPr lang="en-US" sz="1500" b="0" i="0" u="none" strike="noStrike" cap="none" dirty="0" err="1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ms</a:t>
                      </a:r>
                      <a:endParaRPr lang="en-US" sz="1500" b="0" i="0" u="none" strike="noStrike" cap="none" dirty="0">
                        <a:solidFill>
                          <a:srgbClr val="4B5563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443.1 ms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和阈值</a:t>
                      </a:r>
                      <a:r>
                        <a:rPr lang="en-US" altLang="zh-CN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500ms</a:t>
                      </a: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对比，即将面临明显卡顿。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27720300"/>
                  </a:ext>
                </a:extLst>
              </a:tr>
              <a:tr h="5632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波动范围</a:t>
                      </a:r>
                      <a:endParaRPr lang="en-US" sz="1500" b="0" i="0" u="none" strike="noStrike" cap="none" dirty="0">
                        <a:solidFill>
                          <a:srgbClr val="4B5563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111 - 158 </a:t>
                      </a:r>
                      <a:r>
                        <a:rPr lang="en-US" sz="1500" b="0" i="0" u="none" strike="noStrike" cap="none" dirty="0" err="1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ms</a:t>
                      </a:r>
                      <a:endParaRPr lang="en-US" sz="1500" b="0" i="0" u="none" strike="noStrike" cap="none" dirty="0">
                        <a:solidFill>
                          <a:srgbClr val="4B5563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139 - 443 </a:t>
                      </a:r>
                      <a:r>
                        <a:rPr lang="en-US" sz="1500" b="0" i="0" u="none" strike="noStrike" cap="none" dirty="0" err="1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ms</a:t>
                      </a:r>
                      <a:endParaRPr lang="en-US" sz="1500" b="0" i="0" u="none" strike="noStrike" cap="none" dirty="0">
                        <a:solidFill>
                          <a:srgbClr val="4B5563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资源竞争加剧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39691570"/>
                  </a:ext>
                </a:extLst>
              </a:tr>
              <a:tr h="5632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吞吐量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(</a:t>
                      </a:r>
                      <a:r>
                        <a:rPr lang="zh-CN" altLang="en-US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约 </a:t>
                      </a:r>
                      <a:r>
                        <a:rPr lang="en-US" altLang="zh-CN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8 </a:t>
                      </a:r>
                      <a:r>
                        <a:rPr lang="en-US" sz="1500" b="0" i="0" u="none" strike="noStrike" cap="none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QPS)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4B5563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Arial" panose="020B0604020202020204"/>
                          <a:sym typeface="Arial" panose="020B0604020202020204"/>
                        </a:rPr>
                        <a:t>26.78 req/s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500" b="0" i="0" u="none" strike="noStrike" cap="none" dirty="0">
                        <a:solidFill>
                          <a:srgbClr val="4B5563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852452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VkOTQzMzQ0MDU0Nzc1ZDYxNGFjYTJiMGQ1NjA3N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5,&quot;left&quot;:60,&quot;top&quot;:107.5,&quot;width&quot;:84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5,&quot;left&quot;:60,&quot;top&quot;:107.5,&quot;width&quot;:84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5,&quot;left&quot;:60,&quot;top&quot;:107.5,&quot;width&quot;:84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5,&quot;left&quot;:60,&quot;top&quot;:107.5,&quot;width&quot;:84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5,&quot;left&quot;:60,&quot;top&quot;:107.5,&quot;width&quot;:84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5,&quot;left&quot;:60,&quot;top&quot;:107.5,&quot;width&quot;:84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5,&quot;left&quot;:60,&quot;top&quot;:107.5,&quot;width&quot;:84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5,&quot;left&quot;:60,&quot;top&quot;:107.5,&quot;width&quot;:84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0,&quot;left&quot;:60,&quot;top&quot;:250,&quot;width&quot;:44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0,&quot;left&quot;:60,&quot;top&quot;:250,&quot;width&quot;:44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0,&quot;left&quot;:60,&quot;top&quot;:250,&quot;width&quot;:44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0,&quot;left&quot;:60,&quot;top&quot;:250,&quot;width&quot;:44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0,&quot;left&quot;:60,&quot;top&quot;:250,&quot;width&quot;:44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0,&quot;left&quot;:60,&quot;top&quot;:250,&quot;width&quot;:44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0,&quot;left&quot;:60,&quot;top&quot;:250,&quot;width&quot;:44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0,&quot;left&quot;:60,&quot;top&quot;:250,&quot;width&quot;:44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0,&quot;left&quot;:60,&quot;top&quot;:250,&quot;width&quot;:44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0,&quot;left&quot;:60,&quot;top&quot;:250,&quot;width&quot;:4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1827</Words>
  <Application>Microsoft Office PowerPoint</Application>
  <PresentationFormat>宽屏</PresentationFormat>
  <Paragraphs>231</Paragraphs>
  <Slides>17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Noto Sans SC</vt:lpstr>
      <vt:lpstr>等线</vt:lpstr>
      <vt:lpstr>Abadi</vt:lpstr>
      <vt:lpstr>Arial</vt:lpstr>
      <vt:lpstr>Roboto Mono</vt:lpstr>
      <vt:lpstr>Office 主题​​</vt:lpstr>
      <vt:lpstr>默认主题</vt:lpstr>
      <vt:lpstr>1_默认主题</vt:lpstr>
      <vt:lpstr>3_默认主题</vt:lpstr>
      <vt:lpstr>Microsoft Excel 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snow zhang</cp:lastModifiedBy>
  <cp:revision>136</cp:revision>
  <dcterms:created xsi:type="dcterms:W3CDTF">2026-04-28T13:17:00Z</dcterms:created>
  <dcterms:modified xsi:type="dcterms:W3CDTF">2026-04-30T07:39:30Z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598864DD0341432CB86CBB06DF73FCEA_12</vt:lpwstr>
  </property>
  <property fmtid="{D5CDD505-2E9C-101B-9397-08002B2CF9AE}" pid="3" name="KSOProductBuildVer">
    <vt:lpwstr>2052-12.1.0.16929</vt:lpwstr>
  </property>
</Properties>
</file>